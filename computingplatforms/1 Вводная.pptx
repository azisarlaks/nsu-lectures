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6" r:id="rId2"/>
    <p:sldId id="258" r:id="rId3"/>
    <p:sldId id="259" r:id="rId4"/>
    <p:sldId id="262" r:id="rId5"/>
    <p:sldId id="295" r:id="rId6"/>
    <p:sldId id="301" r:id="rId7"/>
    <p:sldId id="257" r:id="rId8"/>
    <p:sldId id="296" r:id="rId9"/>
    <p:sldId id="267" r:id="rId10"/>
    <p:sldId id="297" r:id="rId11"/>
    <p:sldId id="298" r:id="rId12"/>
    <p:sldId id="260" r:id="rId13"/>
    <p:sldId id="261" r:id="rId14"/>
    <p:sldId id="264" r:id="rId15"/>
    <p:sldId id="263" r:id="rId16"/>
    <p:sldId id="265" r:id="rId17"/>
    <p:sldId id="266" r:id="rId18"/>
    <p:sldId id="268" r:id="rId19"/>
    <p:sldId id="284" r:id="rId20"/>
    <p:sldId id="269" r:id="rId21"/>
    <p:sldId id="276" r:id="rId22"/>
    <p:sldId id="278" r:id="rId23"/>
    <p:sldId id="277" r:id="rId24"/>
    <p:sldId id="299" r:id="rId25"/>
    <p:sldId id="280" r:id="rId26"/>
    <p:sldId id="282" r:id="rId27"/>
    <p:sldId id="283" r:id="rId28"/>
    <p:sldId id="286" r:id="rId29"/>
    <p:sldId id="287" r:id="rId30"/>
    <p:sldId id="288" r:id="rId31"/>
    <p:sldId id="285" r:id="rId32"/>
    <p:sldId id="279" r:id="rId33"/>
    <p:sldId id="300" r:id="rId34"/>
    <p:sldId id="289" r:id="rId35"/>
    <p:sldId id="290" r:id="rId36"/>
    <p:sldId id="291" r:id="rId37"/>
    <p:sldId id="293" r:id="rId38"/>
    <p:sldId id="270" r:id="rId39"/>
    <p:sldId id="272" r:id="rId40"/>
    <p:sldId id="273" r:id="rId41"/>
    <p:sldId id="271" r:id="rId42"/>
    <p:sldId id="274" r:id="rId43"/>
    <p:sldId id="275" r:id="rId44"/>
    <p:sldId id="292" r:id="rId4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5"/>
    <p:restoredTop sz="94671"/>
  </p:normalViewPr>
  <p:slideViewPr>
    <p:cSldViewPr>
      <p:cViewPr varScale="1">
        <p:scale>
          <a:sx n="102" d="100"/>
          <a:sy n="102" d="100"/>
        </p:scale>
        <p:origin x="2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A7F527-885A-4190-81CE-B9AB6584E8F7}" type="datetimeFigureOut">
              <a:rPr lang="ru-RU" smtClean="0"/>
              <a:t>01.09.2025</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6F0E0F-4EBD-438A-B652-33882FDFC7B6}" type="slidenum">
              <a:rPr lang="ru-RU" smtClean="0"/>
              <a:t>‹#›</a:t>
            </a:fld>
            <a:endParaRPr lang="ru-RU"/>
          </a:p>
        </p:txBody>
      </p:sp>
    </p:spTree>
    <p:extLst>
      <p:ext uri="{BB962C8B-B14F-4D97-AF65-F5344CB8AC3E}">
        <p14:creationId xmlns:p14="http://schemas.microsoft.com/office/powerpoint/2010/main" val="3535973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5"/>
          </p:nvPr>
        </p:nvSpPr>
        <p:spPr/>
        <p:txBody>
          <a:bodyPr/>
          <a:lstStyle/>
          <a:p>
            <a:fld id="{0B6F0E0F-4EBD-438A-B652-33882FDFC7B6}" type="slidenum">
              <a:rPr lang="ru-RU" smtClean="0"/>
              <a:t>24</a:t>
            </a:fld>
            <a:endParaRPr lang="ru-RU"/>
          </a:p>
        </p:txBody>
      </p:sp>
    </p:spTree>
    <p:extLst>
      <p:ext uri="{BB962C8B-B14F-4D97-AF65-F5344CB8AC3E}">
        <p14:creationId xmlns:p14="http://schemas.microsoft.com/office/powerpoint/2010/main" val="3394388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96CCA459-5F7A-40A0-9396-A1A82C412FDA}" type="slidenum">
              <a:rPr lang="ru-RU" smtClean="0"/>
              <a:pPr/>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6F7E99-4A20-4E7F-814E-65837717A202}" type="datetimeFigureOut">
              <a:rPr lang="ru-RU" smtClean="0"/>
              <a:pPr/>
              <a:t>01.09.2025</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CCA459-5F7A-40A0-9396-A1A82C412FDA}" type="slidenum">
              <a:rPr lang="ru-RU" smtClean="0"/>
              <a:pPr/>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trends.rbc.ru/trends/industry/68778f969a79476bf46653a8"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ru.wikipedia.org/wiki/%D0%98%D0%BD%D1%84%D0%BE%D1%80%D0%BC%D0%B0%D1%82%D0%B8%D0%BA%D0%B0"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ru.wikipedia.org/wiki/JIT-%D0%BA%D0%BE%D0%BC%D0%BF%D0%B8%D0%BB%D1%8F%D1%86%D0%B8%D1%8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en.wikipedia.org/wiki/IBM_407"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717848" y="1700808"/>
            <a:ext cx="7772400" cy="1470025"/>
          </a:xfrm>
        </p:spPr>
        <p:txBody>
          <a:bodyPr/>
          <a:lstStyle/>
          <a:p>
            <a:r>
              <a:rPr lang="en-US" dirty="0"/>
              <a:t>Lecture 1 </a:t>
            </a:r>
            <a:br>
              <a:rPr lang="en-US" dirty="0"/>
            </a:br>
            <a:r>
              <a:rPr lang="en-US" dirty="0"/>
              <a:t>Introduction</a:t>
            </a:r>
            <a:endParaRPr lang="ru-RU" dirty="0"/>
          </a:p>
        </p:txBody>
      </p:sp>
      <p:sp>
        <p:nvSpPr>
          <p:cNvPr id="3" name="Подзаголовок 2"/>
          <p:cNvSpPr>
            <a:spLocks noGrp="1"/>
          </p:cNvSpPr>
          <p:nvPr>
            <p:ph type="subTitle" idx="1"/>
          </p:nvPr>
        </p:nvSpPr>
        <p:spPr>
          <a:xfrm>
            <a:off x="1403648" y="3429000"/>
            <a:ext cx="6400800" cy="2736304"/>
          </a:xfrm>
        </p:spPr>
        <p:txBody>
          <a:bodyPr>
            <a:normAutofit lnSpcReduction="10000"/>
          </a:bodyPr>
          <a:lstStyle/>
          <a:p>
            <a:r>
              <a:rPr lang="en-US" dirty="0"/>
              <a:t>Computing platforms</a:t>
            </a:r>
          </a:p>
          <a:p>
            <a:r>
              <a:rPr lang="en-US" dirty="0"/>
              <a:t>Novosibirsk State University</a:t>
            </a:r>
            <a:br>
              <a:rPr lang="en-US" dirty="0"/>
            </a:br>
            <a:r>
              <a:rPr lang="en-US" dirty="0"/>
              <a:t>University of Hertfordshire</a:t>
            </a:r>
          </a:p>
          <a:p>
            <a:r>
              <a:rPr lang="en-US" dirty="0"/>
              <a:t>D. Irtegov, </a:t>
            </a:r>
            <a:r>
              <a:rPr lang="en-US" dirty="0" err="1"/>
              <a:t>A.Shafarenko</a:t>
            </a:r>
            <a:r>
              <a:rPr lang="ru-RU" dirty="0"/>
              <a:t>, </a:t>
            </a:r>
            <a:r>
              <a:rPr lang="en-US" dirty="0" err="1"/>
              <a:t>A.Nazarov</a:t>
            </a:r>
            <a:endParaRPr lang="en-US" dirty="0"/>
          </a:p>
          <a:p>
            <a:r>
              <a:rPr lang="en-US" dirty="0"/>
              <a:t>20</a:t>
            </a:r>
            <a:r>
              <a:rPr lang="ru-RU" dirty="0"/>
              <a:t>24</a:t>
            </a:r>
            <a:endParaRPr lang="en-US" dirty="0"/>
          </a:p>
          <a:p>
            <a:endParaRPr lang="ru-RU"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What is a [computing] platform?</a:t>
            </a:r>
            <a:endParaRPr lang="ru-RU" dirty="0"/>
          </a:p>
        </p:txBody>
      </p:sp>
      <p:sp>
        <p:nvSpPr>
          <p:cNvPr id="3" name="Содержимое 2"/>
          <p:cNvSpPr>
            <a:spLocks noGrp="1"/>
          </p:cNvSpPr>
          <p:nvPr>
            <p:ph idx="1"/>
          </p:nvPr>
        </p:nvSpPr>
        <p:spPr/>
        <p:txBody>
          <a:bodyPr/>
          <a:lstStyle/>
          <a:p>
            <a:pPr>
              <a:buNone/>
            </a:pPr>
            <a:endParaRPr lang="ru-RU" dirty="0"/>
          </a:p>
        </p:txBody>
      </p:sp>
      <p:pic>
        <p:nvPicPr>
          <p:cNvPr id="4" name="Рисунок 3" descr="draugen_platform_oil_rig_3.jpg"/>
          <p:cNvPicPr>
            <a:picLocks noChangeAspect="1"/>
          </p:cNvPicPr>
          <p:nvPr/>
        </p:nvPicPr>
        <p:blipFill>
          <a:blip r:embed="rId2" cstate="print"/>
          <a:stretch>
            <a:fillRect/>
          </a:stretch>
        </p:blipFill>
        <p:spPr>
          <a:xfrm>
            <a:off x="1115616" y="1628800"/>
            <a:ext cx="6856762" cy="482116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So, what we mean by Platform</a:t>
            </a:r>
            <a:endParaRPr lang="ru-RU" dirty="0"/>
          </a:p>
        </p:txBody>
      </p:sp>
      <p:sp>
        <p:nvSpPr>
          <p:cNvPr id="3" name="Содержимое 2"/>
          <p:cNvSpPr>
            <a:spLocks noGrp="1"/>
          </p:cNvSpPr>
          <p:nvPr>
            <p:ph idx="1"/>
          </p:nvPr>
        </p:nvSpPr>
        <p:spPr/>
        <p:txBody>
          <a:bodyPr>
            <a:normAutofit fontScale="70000" lnSpcReduction="20000"/>
          </a:bodyPr>
          <a:lstStyle/>
          <a:p>
            <a:r>
              <a:rPr lang="ru-RU" dirty="0"/>
              <a:t>Платформа — это то, что можно использовать для создания чего-то другого.</a:t>
            </a:r>
            <a:endParaRPr lang="en-US" dirty="0"/>
          </a:p>
          <a:p>
            <a:r>
              <a:rPr lang="en-US" dirty="0"/>
              <a:t>(</a:t>
            </a:r>
            <a:r>
              <a:rPr lang="ru-RU" dirty="0"/>
              <a:t>Вычислительная платформа - это </a:t>
            </a:r>
            <a:r>
              <a:rPr lang="ru-RU" dirty="0" err="1"/>
              <a:t>самодостаточный</a:t>
            </a:r>
            <a:r>
              <a:rPr lang="ru-RU" dirty="0"/>
              <a:t> набор ресурсов (аппаратных, программных или и тех, и других), предназначенных для обработки цифровых данных.</a:t>
            </a:r>
            <a:endParaRPr lang="en-US" dirty="0"/>
          </a:p>
          <a:p>
            <a:r>
              <a:rPr lang="ru-RU" dirty="0"/>
              <a:t>В этом курсе мы несколько расширяем эту концепцию.</a:t>
            </a:r>
            <a:endParaRPr lang="en-US" dirty="0"/>
          </a:p>
          <a:p>
            <a:pPr lvl="1"/>
            <a:r>
              <a:rPr lang="ru-RU" dirty="0"/>
              <a:t>Мы называем Платформой то, что вы можете использовать</a:t>
            </a:r>
            <a:endParaRPr lang="en-US" dirty="0"/>
          </a:p>
          <a:p>
            <a:pPr lvl="1"/>
            <a:r>
              <a:rPr lang="ru-RU" dirty="0"/>
              <a:t>Таким образом, мы можем объединить компоненты приложений и систем в одну категорию.</a:t>
            </a:r>
            <a:endParaRPr lang="en-US" dirty="0"/>
          </a:p>
          <a:p>
            <a:r>
              <a:rPr lang="ru-RU" dirty="0"/>
              <a:t>В вычислительной технике многие платформы, на самом деле, представляют собой виртуальные машины, построенные на другой платформе. </a:t>
            </a:r>
            <a:endParaRPr lang="en-US" i="1" dirty="0"/>
          </a:p>
          <a:p>
            <a:r>
              <a:rPr lang="ru-RU" dirty="0"/>
              <a:t>Но вы не можете построить чисто виртуальную машину.</a:t>
            </a:r>
            <a:endParaRPr lang="en-US" dirty="0"/>
          </a:p>
          <a:p>
            <a:pPr lvl="1"/>
            <a:r>
              <a:rPr lang="ru-RU" dirty="0"/>
              <a:t>Должно быть что-то реальное в основании.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Computer languages</a:t>
            </a:r>
            <a:endParaRPr lang="ru-RU" dirty="0"/>
          </a:p>
        </p:txBody>
      </p:sp>
      <p:sp>
        <p:nvSpPr>
          <p:cNvPr id="3" name="Содержимое 2"/>
          <p:cNvSpPr>
            <a:spLocks noGrp="1"/>
          </p:cNvSpPr>
          <p:nvPr>
            <p:ph idx="1"/>
          </p:nvPr>
        </p:nvSpPr>
        <p:spPr/>
        <p:txBody>
          <a:bodyPr vert="horz" lIns="91440" tIns="45720" rIns="91440" bIns="45720" rtlCol="0" anchor="t">
            <a:normAutofit fontScale="77500" lnSpcReduction="20000"/>
          </a:bodyPr>
          <a:lstStyle/>
          <a:p>
            <a:r>
              <a:rPr lang="ru-RU" dirty="0"/>
              <a:t>Цифровые компьютеры — это языковые машины</a:t>
            </a:r>
            <a:endParaRPr lang="en-US" dirty="0"/>
          </a:p>
          <a:p>
            <a:pPr lvl="1"/>
            <a:r>
              <a:rPr lang="ru-RU" dirty="0"/>
              <a:t>Вы пишете программу на каком-то языке</a:t>
            </a:r>
            <a:endParaRPr lang="en-US" dirty="0"/>
          </a:p>
          <a:p>
            <a:pPr lvl="1"/>
            <a:r>
              <a:rPr lang="ru-RU" dirty="0"/>
              <a:t>Компьютер запускает (выполняет) это</a:t>
            </a:r>
            <a:endParaRPr lang="en-US" dirty="0"/>
          </a:p>
          <a:p>
            <a:r>
              <a:rPr lang="ru-RU" dirty="0"/>
              <a:t>У каждой платформы есть свой язык (у некоторых — несколько)</a:t>
            </a:r>
            <a:endParaRPr lang="en-US" dirty="0"/>
          </a:p>
          <a:p>
            <a:r>
              <a:rPr lang="ru-RU" dirty="0">
                <a:cs typeface="Calibri"/>
              </a:rPr>
              <a:t>Создать что-то на платформе ~= написать программу, используя язык платформы</a:t>
            </a:r>
            <a:endParaRPr lang="en-US" dirty="0">
              <a:cs typeface="Calibri"/>
            </a:endParaRPr>
          </a:p>
          <a:p>
            <a:r>
              <a:rPr lang="ru-RU" dirty="0"/>
              <a:t>Но платформа — это не язык,</a:t>
            </a:r>
            <a:r>
              <a:rPr lang="en-US" dirty="0"/>
              <a:t> </a:t>
            </a:r>
          </a:p>
          <a:p>
            <a:r>
              <a:rPr lang="ru-RU" dirty="0"/>
              <a:t>Это среда (виртуальная машина) для запуска программ на определенном языке.</a:t>
            </a:r>
            <a:endParaRPr lang="en-US" dirty="0"/>
          </a:p>
          <a:p>
            <a:r>
              <a:rPr lang="ru-RU" dirty="0"/>
              <a:t>И часто набор инструментов, помогающий создавать программы (</a:t>
            </a:r>
            <a:r>
              <a:rPr lang="ru-RU" b="1" dirty="0"/>
              <a:t>отладчики, профилировщики, IDE (?)</a:t>
            </a:r>
            <a:r>
              <a:rPr lang="ru-RU" dirty="0"/>
              <a:t>и т. д.)</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EF2BB5-2770-4BB9-BA01-76D047EAEF39}"/>
              </a:ext>
            </a:extLst>
          </p:cNvPr>
          <p:cNvSpPr>
            <a:spLocks noGrp="1"/>
          </p:cNvSpPr>
          <p:nvPr>
            <p:ph type="title"/>
          </p:nvPr>
        </p:nvSpPr>
        <p:spPr>
          <a:xfrm>
            <a:off x="457200" y="274638"/>
            <a:ext cx="8229600" cy="706090"/>
          </a:xfrm>
        </p:spPr>
        <p:txBody>
          <a:bodyPr>
            <a:normAutofit fontScale="90000"/>
          </a:bodyPr>
          <a:lstStyle/>
          <a:p>
            <a:r>
              <a:rPr lang="ru-RU" dirty="0"/>
              <a:t>Понятия</a:t>
            </a:r>
          </a:p>
        </p:txBody>
      </p:sp>
      <p:sp>
        <p:nvSpPr>
          <p:cNvPr id="3" name="Объект 2">
            <a:extLst>
              <a:ext uri="{FF2B5EF4-FFF2-40B4-BE49-F238E27FC236}">
                <a16:creationId xmlns:a16="http://schemas.microsoft.com/office/drawing/2014/main" id="{09EB79A8-A7FE-4773-8E22-1ABF642814B4}"/>
              </a:ext>
            </a:extLst>
          </p:cNvPr>
          <p:cNvSpPr>
            <a:spLocks noGrp="1"/>
          </p:cNvSpPr>
          <p:nvPr>
            <p:ph idx="1"/>
          </p:nvPr>
        </p:nvSpPr>
        <p:spPr>
          <a:xfrm>
            <a:off x="457200" y="1196752"/>
            <a:ext cx="8229600" cy="4929411"/>
          </a:xfrm>
        </p:spPr>
        <p:txBody>
          <a:bodyPr>
            <a:normAutofit fontScale="55000" lnSpcReduction="20000"/>
          </a:bodyPr>
          <a:lstStyle/>
          <a:p>
            <a:r>
              <a:rPr lang="ru-RU" b="1" i="0" dirty="0">
                <a:solidFill>
                  <a:srgbClr val="333333"/>
                </a:solidFill>
                <a:effectLst/>
                <a:latin typeface="YS Text"/>
              </a:rPr>
              <a:t>Профилировщики (профайлеры) </a:t>
            </a:r>
            <a:r>
              <a:rPr lang="ru-RU" b="0" i="0" dirty="0">
                <a:solidFill>
                  <a:srgbClr val="333333"/>
                </a:solidFill>
                <a:effectLst/>
                <a:latin typeface="YS Text"/>
              </a:rPr>
              <a:t>— это инструменты для анализа работы программы (профилирования). Они собирают характеристики работы программы, такие как время выполнения отдельных фрагментов (обычно подпрограмм), число верно предсказанных условных переходов, число кэш-промахов и т. д..</a:t>
            </a:r>
            <a:endParaRPr lang="ru-RU" b="1" i="0" dirty="0">
              <a:solidFill>
                <a:srgbClr val="333333"/>
              </a:solidFill>
              <a:effectLst/>
              <a:latin typeface="YS Text"/>
            </a:endParaRPr>
          </a:p>
          <a:p>
            <a:pPr>
              <a:buFontTx/>
              <a:buChar char="-"/>
            </a:pPr>
            <a:r>
              <a:rPr lang="ru-RU" b="1" i="0" dirty="0" err="1">
                <a:solidFill>
                  <a:srgbClr val="333333"/>
                </a:solidFill>
                <a:effectLst/>
                <a:latin typeface="YS Text"/>
              </a:rPr>
              <a:t>cache</a:t>
            </a:r>
            <a:r>
              <a:rPr lang="ru-RU" b="1" i="0" dirty="0">
                <a:solidFill>
                  <a:srgbClr val="333333"/>
                </a:solidFill>
                <a:effectLst/>
                <a:latin typeface="YS Text"/>
              </a:rPr>
              <a:t>-промахи, (</a:t>
            </a:r>
            <a:r>
              <a:rPr lang="ru-RU" b="1" i="0" dirty="0" err="1">
                <a:solidFill>
                  <a:srgbClr val="333333"/>
                </a:solidFill>
                <a:effectLst/>
                <a:latin typeface="YS Text"/>
              </a:rPr>
              <a:t>cache-miss</a:t>
            </a:r>
            <a:r>
              <a:rPr lang="ru-RU" b="1" i="0" dirty="0">
                <a:solidFill>
                  <a:srgbClr val="333333"/>
                </a:solidFill>
                <a:effectLst/>
                <a:latin typeface="YS Text"/>
              </a:rPr>
              <a:t>) — это ситуации, когда данных, которые нужны процессору, в кэше нет</a:t>
            </a:r>
            <a:r>
              <a:rPr lang="ru-RU" b="0" i="0" dirty="0">
                <a:solidFill>
                  <a:srgbClr val="333333"/>
                </a:solidFill>
                <a:effectLst/>
                <a:latin typeface="YS Text"/>
              </a:rPr>
              <a:t>.)</a:t>
            </a:r>
          </a:p>
          <a:p>
            <a:pPr>
              <a:buFontTx/>
              <a:buChar char="-"/>
            </a:pPr>
            <a:endParaRPr lang="ru-RU" b="0" i="0" dirty="0">
              <a:solidFill>
                <a:srgbClr val="333333"/>
              </a:solidFill>
              <a:effectLst/>
              <a:latin typeface="YS Text"/>
            </a:endParaRPr>
          </a:p>
          <a:p>
            <a:r>
              <a:rPr lang="ru-RU" b="1" i="0" dirty="0">
                <a:solidFill>
                  <a:srgbClr val="333333"/>
                </a:solidFill>
                <a:effectLst/>
                <a:latin typeface="YS Text"/>
              </a:rPr>
              <a:t>Отладчик</a:t>
            </a:r>
            <a:r>
              <a:rPr lang="ru-RU" b="0" i="0" dirty="0">
                <a:solidFill>
                  <a:srgbClr val="333333"/>
                </a:solidFill>
                <a:effectLst/>
                <a:latin typeface="YS Text"/>
              </a:rPr>
              <a:t> (англ. </a:t>
            </a:r>
            <a:r>
              <a:rPr lang="ru-RU" b="0" i="0" dirty="0" err="1">
                <a:solidFill>
                  <a:srgbClr val="333333"/>
                </a:solidFill>
                <a:effectLst/>
                <a:latin typeface="YS Text"/>
              </a:rPr>
              <a:t>debugger</a:t>
            </a:r>
            <a:r>
              <a:rPr lang="ru-RU" b="0" i="0" dirty="0">
                <a:solidFill>
                  <a:srgbClr val="333333"/>
                </a:solidFill>
                <a:effectLst/>
                <a:latin typeface="YS Text"/>
              </a:rPr>
              <a:t> от </a:t>
            </a:r>
            <a:r>
              <a:rPr lang="ru-RU" b="0" i="0" dirty="0" err="1">
                <a:solidFill>
                  <a:srgbClr val="333333"/>
                </a:solidFill>
                <a:effectLst/>
                <a:latin typeface="YS Text"/>
              </a:rPr>
              <a:t>bug</a:t>
            </a:r>
            <a:r>
              <a:rPr lang="ru-RU" b="0" i="0" dirty="0">
                <a:solidFill>
                  <a:srgbClr val="333333"/>
                </a:solidFill>
                <a:effectLst/>
                <a:latin typeface="YS Text"/>
              </a:rPr>
              <a:t>, баг) — </a:t>
            </a:r>
            <a:r>
              <a:rPr lang="ru-RU" b="1" i="0" dirty="0">
                <a:solidFill>
                  <a:srgbClr val="333333"/>
                </a:solidFill>
                <a:effectLst/>
                <a:latin typeface="YS Text"/>
              </a:rPr>
              <a:t>компьютерная программа для автоматизации процесса отладки</a:t>
            </a:r>
            <a:r>
              <a:rPr lang="ru-RU" b="0" i="0" dirty="0">
                <a:solidFill>
                  <a:srgbClr val="333333"/>
                </a:solidFill>
                <a:effectLst/>
                <a:latin typeface="YS Text"/>
              </a:rPr>
              <a:t> — поиска ошибок в других программах, ядрах операционных систем, SQL-запросах (</a:t>
            </a:r>
            <a:r>
              <a:rPr lang="ru-RU" b="1" i="0" dirty="0">
                <a:solidFill>
                  <a:srgbClr val="333333"/>
                </a:solidFill>
                <a:effectLst/>
                <a:latin typeface="YS Text"/>
              </a:rPr>
              <a:t>?</a:t>
            </a:r>
            <a:r>
              <a:rPr lang="ru-RU" b="0" i="0" dirty="0">
                <a:solidFill>
                  <a:srgbClr val="333333"/>
                </a:solidFill>
                <a:effectLst/>
                <a:latin typeface="YS Text"/>
              </a:rPr>
              <a:t>) и других видах кода. Отладчики помогают разработчикам находить и устранять ошибки (баги).</a:t>
            </a:r>
          </a:p>
          <a:p>
            <a:endParaRPr lang="ru-RU" b="0" i="0" dirty="0">
              <a:solidFill>
                <a:srgbClr val="333333"/>
              </a:solidFill>
              <a:effectLst/>
              <a:latin typeface="YS Text"/>
            </a:endParaRPr>
          </a:p>
          <a:p>
            <a:r>
              <a:rPr lang="ru-RU" b="1" i="0" dirty="0">
                <a:solidFill>
                  <a:srgbClr val="333333"/>
                </a:solidFill>
                <a:effectLst/>
                <a:latin typeface="YS Text"/>
              </a:rPr>
              <a:t>IDE (от англ. Integrated Development Environment) в программировании</a:t>
            </a:r>
            <a:r>
              <a:rPr lang="ru-RU" b="0" i="0" dirty="0">
                <a:solidFill>
                  <a:srgbClr val="333333"/>
                </a:solidFill>
                <a:effectLst/>
                <a:latin typeface="YS Text"/>
              </a:rPr>
              <a:t> — </a:t>
            </a:r>
            <a:r>
              <a:rPr lang="ru-RU" b="1" i="0" dirty="0">
                <a:solidFill>
                  <a:srgbClr val="333333"/>
                </a:solidFill>
                <a:effectLst/>
                <a:latin typeface="YS Text"/>
              </a:rPr>
              <a:t>интегрированная среда разработки</a:t>
            </a:r>
            <a:r>
              <a:rPr lang="ru-RU" b="0" i="0" dirty="0">
                <a:solidFill>
                  <a:srgbClr val="333333"/>
                </a:solidFill>
                <a:effectLst/>
                <a:latin typeface="YS Text"/>
              </a:rPr>
              <a:t>. Это комплекс программных средств, который объединяет инструменты для создания программного обеспечения (ПО) в одном месте. Здесь можно писать, проверять, тестировать и запускать код, не переключаясь между разными приложениями.</a:t>
            </a:r>
            <a:endParaRPr lang="ru-RU" dirty="0"/>
          </a:p>
        </p:txBody>
      </p:sp>
    </p:spTree>
    <p:extLst>
      <p:ext uri="{BB962C8B-B14F-4D97-AF65-F5344CB8AC3E}">
        <p14:creationId xmlns:p14="http://schemas.microsoft.com/office/powerpoint/2010/main" val="128775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94390CE-4BCA-471F-8536-F47BC35F9576}"/>
              </a:ext>
            </a:extLst>
          </p:cNvPr>
          <p:cNvSpPr>
            <a:spLocks noGrp="1"/>
          </p:cNvSpPr>
          <p:nvPr>
            <p:ph type="title"/>
          </p:nvPr>
        </p:nvSpPr>
        <p:spPr/>
        <p:txBody>
          <a:bodyPr/>
          <a:lstStyle/>
          <a:p>
            <a:r>
              <a:rPr lang="ru-RU" dirty="0"/>
              <a:t>Определения</a:t>
            </a:r>
          </a:p>
        </p:txBody>
      </p:sp>
      <p:sp>
        <p:nvSpPr>
          <p:cNvPr id="3" name="Объект 2">
            <a:extLst>
              <a:ext uri="{FF2B5EF4-FFF2-40B4-BE49-F238E27FC236}">
                <a16:creationId xmlns:a16="http://schemas.microsoft.com/office/drawing/2014/main" id="{8AAF0A4E-5586-4154-9E78-3C3A373F0C4C}"/>
              </a:ext>
            </a:extLst>
          </p:cNvPr>
          <p:cNvSpPr>
            <a:spLocks noGrp="1"/>
          </p:cNvSpPr>
          <p:nvPr>
            <p:ph idx="1"/>
          </p:nvPr>
        </p:nvSpPr>
        <p:spPr/>
        <p:txBody>
          <a:bodyPr>
            <a:normAutofit fontScale="85000" lnSpcReduction="10000"/>
          </a:bodyPr>
          <a:lstStyle/>
          <a:p>
            <a:r>
              <a:rPr lang="ru-RU" b="1" i="0" dirty="0">
                <a:solidFill>
                  <a:srgbClr val="333333"/>
                </a:solidFill>
                <a:effectLst/>
                <a:latin typeface="YS Text"/>
              </a:rPr>
              <a:t>SQL-запросы (</a:t>
            </a:r>
            <a:r>
              <a:rPr lang="ru-RU" b="1" i="0" dirty="0" err="1">
                <a:solidFill>
                  <a:srgbClr val="333333"/>
                </a:solidFill>
                <a:effectLst/>
                <a:latin typeface="YS Text"/>
              </a:rPr>
              <a:t>Structured</a:t>
            </a:r>
            <a:r>
              <a:rPr lang="ru-RU" b="1" i="0" dirty="0">
                <a:solidFill>
                  <a:srgbClr val="333333"/>
                </a:solidFill>
                <a:effectLst/>
                <a:latin typeface="YS Text"/>
              </a:rPr>
              <a:t> </a:t>
            </a:r>
            <a:r>
              <a:rPr lang="ru-RU" b="1" i="0" dirty="0" err="1">
                <a:solidFill>
                  <a:srgbClr val="333333"/>
                </a:solidFill>
                <a:effectLst/>
                <a:latin typeface="YS Text"/>
              </a:rPr>
              <a:t>Query</a:t>
            </a:r>
            <a:r>
              <a:rPr lang="ru-RU" b="1" i="0" dirty="0">
                <a:solidFill>
                  <a:srgbClr val="333333"/>
                </a:solidFill>
                <a:effectLst/>
                <a:latin typeface="YS Text"/>
              </a:rPr>
              <a:t> Language) — </a:t>
            </a:r>
            <a:r>
              <a:rPr lang="ru-RU" i="0" dirty="0">
                <a:solidFill>
                  <a:srgbClr val="333333"/>
                </a:solidFill>
                <a:effectLst/>
                <a:latin typeface="YS Text"/>
              </a:rPr>
              <a:t>это команды, записанные в виде операторов, которые позволяют извлекать, изменять или удалять данные из баз данных (БД). SQL предназначен для работы с реляционными базами данных — массивами информации, которые связаны между собой и представлены в виде таблиц. </a:t>
            </a:r>
          </a:p>
          <a:p>
            <a:r>
              <a:rPr lang="ru-RU" b="0" i="0" dirty="0">
                <a:solidFill>
                  <a:srgbClr val="333333"/>
                </a:solidFill>
                <a:effectLst/>
                <a:latin typeface="YS Text"/>
              </a:rPr>
              <a:t>Название «</a:t>
            </a:r>
            <a:r>
              <a:rPr lang="ru-RU" b="1" i="0" dirty="0">
                <a:solidFill>
                  <a:srgbClr val="333333"/>
                </a:solidFill>
                <a:effectLst/>
                <a:latin typeface="YS Text"/>
              </a:rPr>
              <a:t>реляционный</a:t>
            </a:r>
            <a:r>
              <a:rPr lang="ru-RU" b="0" i="0" dirty="0">
                <a:solidFill>
                  <a:srgbClr val="333333"/>
                </a:solidFill>
                <a:effectLst/>
                <a:latin typeface="YS Text"/>
              </a:rPr>
              <a:t>» указывает на наличие связей между таблицами — их называют «отношениями» (</a:t>
            </a:r>
            <a:r>
              <a:rPr lang="ru-RU" b="0" i="0" dirty="0" err="1">
                <a:solidFill>
                  <a:srgbClr val="333333"/>
                </a:solidFill>
                <a:effectLst/>
                <a:latin typeface="YS Text"/>
              </a:rPr>
              <a:t>relation</a:t>
            </a:r>
            <a:r>
              <a:rPr lang="ru-RU" b="0" i="0" dirty="0">
                <a:solidFill>
                  <a:srgbClr val="333333"/>
                </a:solidFill>
                <a:effectLst/>
                <a:latin typeface="YS Text"/>
              </a:rPr>
              <a:t> по-английски)</a:t>
            </a:r>
            <a:br>
              <a:rPr lang="ru-RU" b="0" u="none" strike="noStrike" dirty="0">
                <a:effectLst/>
                <a:latin typeface="YS Text"/>
                <a:hlinkClick r:id="rId2"/>
              </a:rPr>
            </a:br>
            <a:endParaRPr lang="ru-RU" dirty="0"/>
          </a:p>
        </p:txBody>
      </p:sp>
    </p:spTree>
    <p:extLst>
      <p:ext uri="{BB962C8B-B14F-4D97-AF65-F5344CB8AC3E}">
        <p14:creationId xmlns:p14="http://schemas.microsoft.com/office/powerpoint/2010/main" val="1335885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r>
              <a:rPr lang="en-US" dirty="0"/>
              <a:t>Platforms hierarchy</a:t>
            </a:r>
            <a:br>
              <a:rPr lang="en-US" dirty="0"/>
            </a:br>
            <a:r>
              <a:rPr lang="ru-RU" dirty="0"/>
              <a:t> система </a:t>
            </a:r>
            <a:r>
              <a:rPr lang="ru-RU" dirty="0" err="1"/>
              <a:t>Таненбаума</a:t>
            </a:r>
            <a:r>
              <a:rPr lang="ru-RU" dirty="0"/>
              <a:t> </a:t>
            </a:r>
          </a:p>
        </p:txBody>
      </p:sp>
      <p:pic>
        <p:nvPicPr>
          <p:cNvPr id="5" name="Содержимое 4"/>
          <p:cNvPicPr>
            <a:picLocks noGrp="1"/>
          </p:cNvPicPr>
          <p:nvPr>
            <p:ph idx="1"/>
          </p:nvPr>
        </p:nvPicPr>
        <p:blipFill>
          <a:blip r:embed="rId2"/>
          <a:srcRect l="4991" t="27371" r="54253" b="18157"/>
          <a:stretch>
            <a:fillRect/>
          </a:stretch>
        </p:blipFill>
        <p:spPr bwMode="auto">
          <a:xfrm>
            <a:off x="457200" y="1663344"/>
            <a:ext cx="8229600" cy="4399674"/>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2C7A364-D874-4369-9551-A2DB7F610B61}"/>
              </a:ext>
            </a:extLst>
          </p:cNvPr>
          <p:cNvSpPr>
            <a:spLocks noGrp="1"/>
          </p:cNvSpPr>
          <p:nvPr>
            <p:ph type="title"/>
          </p:nvPr>
        </p:nvSpPr>
        <p:spPr>
          <a:xfrm>
            <a:off x="457200" y="116632"/>
            <a:ext cx="8229600" cy="562074"/>
          </a:xfrm>
        </p:spPr>
        <p:txBody>
          <a:bodyPr>
            <a:normAutofit fontScale="90000"/>
          </a:bodyPr>
          <a:lstStyle/>
          <a:p>
            <a:r>
              <a:rPr lang="ru-RU" b="1" i="0" dirty="0" err="1">
                <a:solidFill>
                  <a:srgbClr val="202122"/>
                </a:solidFill>
                <a:effectLst/>
                <a:latin typeface="Arial" panose="020B0604020202020204" pitchFamily="34" charset="0"/>
              </a:rPr>
              <a:t>Э́ндрю</a:t>
            </a:r>
            <a:r>
              <a:rPr lang="ru-RU" b="1" i="0" dirty="0">
                <a:solidFill>
                  <a:srgbClr val="202122"/>
                </a:solidFill>
                <a:effectLst/>
                <a:latin typeface="Arial" panose="020B0604020202020204" pitchFamily="34" charset="0"/>
              </a:rPr>
              <a:t> Стюарт </a:t>
            </a:r>
            <a:r>
              <a:rPr lang="ru-RU" b="1" i="0" dirty="0" err="1">
                <a:solidFill>
                  <a:srgbClr val="202122"/>
                </a:solidFill>
                <a:effectLst/>
                <a:latin typeface="Arial" panose="020B0604020202020204" pitchFamily="34" charset="0"/>
              </a:rPr>
              <a:t>Таненба́ум</a:t>
            </a:r>
            <a:endParaRPr lang="ru-RU" dirty="0"/>
          </a:p>
        </p:txBody>
      </p:sp>
      <p:pic>
        <p:nvPicPr>
          <p:cNvPr id="1026" name="Picture 2" descr="Picture background">
            <a:extLst>
              <a:ext uri="{FF2B5EF4-FFF2-40B4-BE49-F238E27FC236}">
                <a16:creationId xmlns:a16="http://schemas.microsoft.com/office/drawing/2014/main" id="{2D089F0B-0613-46EE-99E3-A2A4089951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1916832"/>
            <a:ext cx="3964025" cy="324036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0CC1C40-B13F-4630-B6E5-361794476B0D}"/>
              </a:ext>
            </a:extLst>
          </p:cNvPr>
          <p:cNvSpPr txBox="1"/>
          <p:nvPr/>
        </p:nvSpPr>
        <p:spPr>
          <a:xfrm>
            <a:off x="1349896" y="792161"/>
            <a:ext cx="6444208" cy="923330"/>
          </a:xfrm>
          <a:prstGeom prst="rect">
            <a:avLst/>
          </a:prstGeom>
          <a:noFill/>
        </p:spPr>
        <p:txBody>
          <a:bodyPr wrap="square">
            <a:spAutoFit/>
          </a:bodyPr>
          <a:lstStyle/>
          <a:p>
            <a:r>
              <a:rPr lang="ru-RU" b="1" dirty="0">
                <a:solidFill>
                  <a:srgbClr val="333333"/>
                </a:solidFill>
                <a:latin typeface="YS Text"/>
              </a:rPr>
              <a:t>Г</a:t>
            </a:r>
            <a:r>
              <a:rPr lang="ru-RU" b="1" i="0" dirty="0">
                <a:solidFill>
                  <a:srgbClr val="333333"/>
                </a:solidFill>
                <a:effectLst/>
                <a:latin typeface="YS Text"/>
              </a:rPr>
              <a:t>олландский учёный-компьютерщик американского происхождения</a:t>
            </a:r>
            <a:r>
              <a:rPr lang="ru-RU" b="0" i="0" dirty="0">
                <a:solidFill>
                  <a:srgbClr val="333333"/>
                </a:solidFill>
                <a:effectLst/>
                <a:latin typeface="YS Text"/>
              </a:rPr>
              <a:t>. Почётный профессор компьютерных наук в Амстердамском свободном университете в Нидерландах.</a:t>
            </a:r>
            <a:endParaRPr lang="ru-RU" dirty="0"/>
          </a:p>
        </p:txBody>
      </p:sp>
      <p:sp>
        <p:nvSpPr>
          <p:cNvPr id="8" name="TextBox 7">
            <a:extLst>
              <a:ext uri="{FF2B5EF4-FFF2-40B4-BE49-F238E27FC236}">
                <a16:creationId xmlns:a16="http://schemas.microsoft.com/office/drawing/2014/main" id="{D324909D-4A2B-4882-BAE4-A7D04FFB6035}"/>
              </a:ext>
            </a:extLst>
          </p:cNvPr>
          <p:cNvSpPr txBox="1"/>
          <p:nvPr/>
        </p:nvSpPr>
        <p:spPr>
          <a:xfrm>
            <a:off x="107504" y="5160063"/>
            <a:ext cx="4572000" cy="646331"/>
          </a:xfrm>
          <a:prstGeom prst="rect">
            <a:avLst/>
          </a:prstGeom>
          <a:noFill/>
        </p:spPr>
        <p:txBody>
          <a:bodyPr wrap="square">
            <a:spAutoFit/>
          </a:bodyPr>
          <a:lstStyle/>
          <a:p>
            <a:r>
              <a:rPr lang="ru-RU" b="0" i="0" dirty="0">
                <a:solidFill>
                  <a:srgbClr val="202122"/>
                </a:solidFill>
                <a:effectLst/>
                <a:latin typeface="Arial" panose="020B0604020202020204" pitchFamily="34" charset="0"/>
              </a:rPr>
              <a:t> иногда упоминаемый под псевдонимом </a:t>
            </a:r>
            <a:r>
              <a:rPr lang="ru-RU" b="1" i="0" dirty="0">
                <a:solidFill>
                  <a:srgbClr val="202122"/>
                </a:solidFill>
                <a:effectLst/>
                <a:latin typeface="Arial" panose="020B0604020202020204" pitchFamily="34" charset="0"/>
              </a:rPr>
              <a:t>AST</a:t>
            </a:r>
            <a:r>
              <a:rPr lang="ru-RU" b="0" i="0" dirty="0">
                <a:solidFill>
                  <a:srgbClr val="202122"/>
                </a:solidFill>
                <a:effectLst/>
                <a:latin typeface="Arial" panose="020B0604020202020204" pitchFamily="34" charset="0"/>
              </a:rPr>
              <a:t> или </a:t>
            </a:r>
            <a:r>
              <a:rPr lang="ru-RU" b="1" i="0" dirty="0" err="1">
                <a:solidFill>
                  <a:srgbClr val="202122"/>
                </a:solidFill>
                <a:effectLst/>
                <a:latin typeface="Arial" panose="020B0604020202020204" pitchFamily="34" charset="0"/>
              </a:rPr>
              <a:t>Papá</a:t>
            </a:r>
            <a:r>
              <a:rPr lang="ru-RU" b="1" i="0" dirty="0">
                <a:solidFill>
                  <a:srgbClr val="202122"/>
                </a:solidFill>
                <a:effectLst/>
                <a:latin typeface="Arial" panose="020B0604020202020204" pitchFamily="34" charset="0"/>
              </a:rPr>
              <a:t> </a:t>
            </a:r>
            <a:r>
              <a:rPr lang="ru-RU" b="1" i="0" dirty="0" err="1">
                <a:solidFill>
                  <a:srgbClr val="202122"/>
                </a:solidFill>
                <a:effectLst/>
                <a:latin typeface="Arial" panose="020B0604020202020204" pitchFamily="34" charset="0"/>
              </a:rPr>
              <a:t>Tanenbaum</a:t>
            </a:r>
            <a:endParaRPr lang="ru-RU" dirty="0"/>
          </a:p>
        </p:txBody>
      </p:sp>
      <p:sp>
        <p:nvSpPr>
          <p:cNvPr id="10" name="TextBox 9">
            <a:extLst>
              <a:ext uri="{FF2B5EF4-FFF2-40B4-BE49-F238E27FC236}">
                <a16:creationId xmlns:a16="http://schemas.microsoft.com/office/drawing/2014/main" id="{0E62C84D-FFF9-40C4-9318-01E508633E17}"/>
              </a:ext>
            </a:extLst>
          </p:cNvPr>
          <p:cNvSpPr txBox="1"/>
          <p:nvPr/>
        </p:nvSpPr>
        <p:spPr>
          <a:xfrm>
            <a:off x="4287553" y="2072158"/>
            <a:ext cx="4572000" cy="1477328"/>
          </a:xfrm>
          <a:prstGeom prst="rect">
            <a:avLst/>
          </a:prstGeom>
          <a:noFill/>
        </p:spPr>
        <p:txBody>
          <a:bodyPr wrap="square">
            <a:spAutoFit/>
          </a:bodyPr>
          <a:lstStyle/>
          <a:p>
            <a:r>
              <a:rPr lang="ru-RU" b="0" i="0" dirty="0">
                <a:solidFill>
                  <a:srgbClr val="202122"/>
                </a:solidFill>
                <a:effectLst/>
                <a:latin typeface="Arial" panose="020B0604020202020204" pitchFamily="34" charset="0"/>
              </a:rPr>
              <a:t>В 1987 году создал операционную систему </a:t>
            </a:r>
            <a:r>
              <a:rPr lang="ru-RU" b="1" i="0" dirty="0">
                <a:solidFill>
                  <a:srgbClr val="202122"/>
                </a:solidFill>
                <a:effectLst/>
                <a:latin typeface="Arial" panose="020B0604020202020204" pitchFamily="34" charset="0"/>
              </a:rPr>
              <a:t>MINIX</a:t>
            </a:r>
            <a:r>
              <a:rPr lang="ru-RU" b="0" i="0" dirty="0">
                <a:solidFill>
                  <a:srgbClr val="202122"/>
                </a:solidFill>
                <a:effectLst/>
                <a:latin typeface="Arial" panose="020B0604020202020204" pitchFamily="34" charset="0"/>
              </a:rPr>
              <a:t> — бесплатную Unix-подобную систему для образовательных целей, которая впоследствии легла в основу </a:t>
            </a:r>
            <a:r>
              <a:rPr lang="ru-RU" b="1" i="0" dirty="0">
                <a:solidFill>
                  <a:srgbClr val="202122"/>
                </a:solidFill>
                <a:effectLst/>
                <a:latin typeface="Arial" panose="020B0604020202020204" pitchFamily="34" charset="0"/>
              </a:rPr>
              <a:t>Linux</a:t>
            </a:r>
            <a:r>
              <a:rPr lang="ru-RU" b="0" i="0" dirty="0">
                <a:solidFill>
                  <a:srgbClr val="0645AD"/>
                </a:solidFill>
                <a:effectLst/>
                <a:latin typeface="Arial" panose="020B0604020202020204" pitchFamily="34" charset="0"/>
              </a:rPr>
              <a:t>.</a:t>
            </a:r>
            <a:endParaRPr lang="ru-RU" dirty="0"/>
          </a:p>
        </p:txBody>
      </p:sp>
      <p:sp>
        <p:nvSpPr>
          <p:cNvPr id="12" name="TextBox 11">
            <a:extLst>
              <a:ext uri="{FF2B5EF4-FFF2-40B4-BE49-F238E27FC236}">
                <a16:creationId xmlns:a16="http://schemas.microsoft.com/office/drawing/2014/main" id="{A99BFB87-E567-40BF-B9C4-579AD26BA0FC}"/>
              </a:ext>
            </a:extLst>
          </p:cNvPr>
          <p:cNvSpPr txBox="1"/>
          <p:nvPr/>
        </p:nvSpPr>
        <p:spPr>
          <a:xfrm>
            <a:off x="4427984" y="3753174"/>
            <a:ext cx="4572000" cy="1200329"/>
          </a:xfrm>
          <a:prstGeom prst="rect">
            <a:avLst/>
          </a:prstGeom>
          <a:noFill/>
        </p:spPr>
        <p:txBody>
          <a:bodyPr wrap="square">
            <a:spAutoFit/>
          </a:bodyPr>
          <a:lstStyle/>
          <a:p>
            <a:r>
              <a:rPr lang="ru-RU" sz="2400" b="0" i="0" dirty="0">
                <a:solidFill>
                  <a:srgbClr val="202122"/>
                </a:solidFill>
                <a:effectLst/>
                <a:latin typeface="Times New Roman" panose="02020603050405020304" pitchFamily="18" charset="0"/>
                <a:cs typeface="Times New Roman" panose="02020603050405020304" pitchFamily="18" charset="0"/>
              </a:rPr>
              <a:t>Автор книг по </a:t>
            </a:r>
            <a:r>
              <a:rPr lang="ru-RU" sz="2400" dirty="0">
                <a:hlinkClick r:id="rId3" tooltip="Информатика">
                  <a:extLst>
                    <a:ext uri="{A12FA001-AC4F-418D-AE19-62706E023703}">
                      <ahyp:hlinkClr xmlns:ahyp="http://schemas.microsoft.com/office/drawing/2018/hyperlinkcolor" val="tx"/>
                    </a:ext>
                  </a:extLst>
                </a:hlinkClick>
              </a:rPr>
              <a:t>информатике</a:t>
            </a:r>
            <a:r>
              <a:rPr lang="ru-RU" sz="2400" b="0" i="0" dirty="0">
                <a:solidFill>
                  <a:srgbClr val="202122"/>
                </a:solidFill>
                <a:effectLst/>
                <a:latin typeface="Times New Roman" panose="02020603050405020304" pitchFamily="18" charset="0"/>
                <a:cs typeface="Times New Roman" panose="02020603050405020304" pitchFamily="18" charset="0"/>
              </a:rPr>
              <a:t>, которые считаются стандартами в данной области.</a:t>
            </a:r>
            <a:endParaRPr lang="ru-RU" sz="24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5077E580-9D3E-4B24-9087-43AF7511C8AA}"/>
              </a:ext>
            </a:extLst>
          </p:cNvPr>
          <p:cNvSpPr txBox="1"/>
          <p:nvPr/>
        </p:nvSpPr>
        <p:spPr>
          <a:xfrm>
            <a:off x="2163317" y="6165304"/>
            <a:ext cx="4248472" cy="369332"/>
          </a:xfrm>
          <a:prstGeom prst="rect">
            <a:avLst/>
          </a:prstGeom>
          <a:noFill/>
        </p:spPr>
        <p:txBody>
          <a:bodyPr wrap="square" rtlCol="0">
            <a:spAutoFit/>
          </a:bodyPr>
          <a:lstStyle/>
          <a:p>
            <a:r>
              <a:rPr lang="ru-RU" dirty="0"/>
              <a:t>См. книгу в </a:t>
            </a:r>
            <a:r>
              <a:rPr lang="en-US" dirty="0"/>
              <a:t>Google-class</a:t>
            </a:r>
            <a:endParaRPr lang="ru-RU" dirty="0"/>
          </a:p>
        </p:txBody>
      </p:sp>
    </p:spTree>
    <p:extLst>
      <p:ext uri="{BB962C8B-B14F-4D97-AF65-F5344CB8AC3E}">
        <p14:creationId xmlns:p14="http://schemas.microsoft.com/office/powerpoint/2010/main" val="890732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721E750-C907-AE4B-83F8-3CB01288E72E}"/>
              </a:ext>
            </a:extLst>
          </p:cNvPr>
          <p:cNvSpPr>
            <a:spLocks noGrp="1"/>
          </p:cNvSpPr>
          <p:nvPr>
            <p:ph type="title"/>
          </p:nvPr>
        </p:nvSpPr>
        <p:spPr/>
        <p:txBody>
          <a:bodyPr/>
          <a:lstStyle/>
          <a:p>
            <a:r>
              <a:rPr lang="en-US" dirty="0"/>
              <a:t>It is even more complex</a:t>
            </a:r>
            <a:endParaRPr lang="ru-RU" dirty="0"/>
          </a:p>
        </p:txBody>
      </p:sp>
      <p:sp>
        <p:nvSpPr>
          <p:cNvPr id="3" name="Объект 2">
            <a:extLst>
              <a:ext uri="{FF2B5EF4-FFF2-40B4-BE49-F238E27FC236}">
                <a16:creationId xmlns:a16="http://schemas.microsoft.com/office/drawing/2014/main" id="{0AC00A36-BA8D-3C4D-B7D3-F4D27E0F5870}"/>
              </a:ext>
            </a:extLst>
          </p:cNvPr>
          <p:cNvSpPr>
            <a:spLocks noGrp="1"/>
          </p:cNvSpPr>
          <p:nvPr>
            <p:ph idx="1"/>
          </p:nvPr>
        </p:nvSpPr>
        <p:spPr/>
        <p:txBody>
          <a:bodyPr>
            <a:normAutofit fontScale="62500" lnSpcReduction="20000"/>
          </a:bodyPr>
          <a:lstStyle/>
          <a:p>
            <a:r>
              <a:rPr lang="ru-RU" dirty="0"/>
              <a:t>Современные технологии позволяют нам строить что угодно из чего угодно.</a:t>
            </a:r>
            <a:endParaRPr lang="en-US" dirty="0"/>
          </a:p>
          <a:p>
            <a:r>
              <a:rPr lang="ru-RU" dirty="0"/>
              <a:t>Платформа уровня приложения может иметь свой собственный язык программирования («язык сценариев»), и люди могут использовать его для создания чего-то еще более высокого уровня</a:t>
            </a:r>
            <a:endParaRPr lang="en-US" dirty="0"/>
          </a:p>
          <a:p>
            <a:pPr lvl="1"/>
            <a:r>
              <a:rPr lang="en-US" dirty="0"/>
              <a:t>Example: Web browsers and </a:t>
            </a:r>
            <a:r>
              <a:rPr lang="en-US" b="1" dirty="0"/>
              <a:t>JavaScript (</a:t>
            </a:r>
            <a:r>
              <a:rPr lang="ru-RU" b="1" dirty="0"/>
              <a:t>?</a:t>
            </a:r>
            <a:r>
              <a:rPr lang="en-US" b="1" dirty="0"/>
              <a:t>)</a:t>
            </a:r>
          </a:p>
          <a:p>
            <a:r>
              <a:rPr lang="ru-RU" dirty="0"/>
              <a:t>Вы можете использовать высокоуровневые платформы для эмуляции низкоуровневых.</a:t>
            </a:r>
            <a:endParaRPr lang="en-US" dirty="0"/>
          </a:p>
          <a:p>
            <a:pPr lvl="1"/>
            <a:r>
              <a:rPr lang="en-US" dirty="0"/>
              <a:t>Example: Virtual machines in narrow sense </a:t>
            </a:r>
            <a:br>
              <a:rPr lang="en-US" dirty="0"/>
            </a:br>
            <a:r>
              <a:rPr lang="en-US" dirty="0"/>
              <a:t>(hypervisors, like </a:t>
            </a:r>
            <a:r>
              <a:rPr lang="en-US" b="1" dirty="0"/>
              <a:t>VirtualBox</a:t>
            </a:r>
            <a:r>
              <a:rPr lang="ru-RU" b="1" dirty="0"/>
              <a:t> (?)</a:t>
            </a:r>
            <a:r>
              <a:rPr lang="en-US" dirty="0"/>
              <a:t> or VMWare)</a:t>
            </a:r>
          </a:p>
          <a:p>
            <a:pPr marL="342900" lvl="1" indent="-342900">
              <a:buFont typeface="Arial" pitchFamily="34" charset="0"/>
              <a:buChar char="•"/>
            </a:pPr>
            <a:r>
              <a:rPr lang="ru-RU" sz="3200" dirty="0"/>
              <a:t>Вы можете написать программу на JS, эмулирующую аппаратный процессор, способный загружать Linux или Unix (попробуйте вычислить уровень платформы программы на C, работающей на этой системе), и благодаря оптимизации </a:t>
            </a:r>
            <a:r>
              <a:rPr lang="ru-RU" sz="3200" dirty="0" err="1"/>
              <a:t>JiT</a:t>
            </a:r>
            <a:r>
              <a:rPr lang="ru-RU" sz="3200" dirty="0"/>
              <a:t> она может иметь приличную производительность.</a:t>
            </a:r>
            <a:endParaRPr lang="en-US" sz="3200" dirty="0"/>
          </a:p>
          <a:p>
            <a:r>
              <a:rPr lang="en-US" dirty="0"/>
              <a:t>We won’t discuss it now, let’s deal with simple case first</a:t>
            </a:r>
            <a:endParaRPr lang="ru-RU" dirty="0"/>
          </a:p>
        </p:txBody>
      </p:sp>
    </p:spTree>
    <p:extLst>
      <p:ext uri="{BB962C8B-B14F-4D97-AF65-F5344CB8AC3E}">
        <p14:creationId xmlns:p14="http://schemas.microsoft.com/office/powerpoint/2010/main" val="7803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569BC5F-8E81-4478-BE92-8D959783527D}"/>
              </a:ext>
            </a:extLst>
          </p:cNvPr>
          <p:cNvSpPr>
            <a:spLocks noGrp="1"/>
          </p:cNvSpPr>
          <p:nvPr>
            <p:ph type="title"/>
          </p:nvPr>
        </p:nvSpPr>
        <p:spPr>
          <a:xfrm>
            <a:off x="457200" y="274638"/>
            <a:ext cx="8229600" cy="922114"/>
          </a:xfrm>
        </p:spPr>
        <p:txBody>
          <a:bodyPr/>
          <a:lstStyle/>
          <a:p>
            <a:r>
              <a:rPr lang="ru-RU" b="1" dirty="0">
                <a:solidFill>
                  <a:srgbClr val="333333"/>
                </a:solidFill>
                <a:effectLst/>
                <a:latin typeface="YS Text"/>
              </a:rPr>
              <a:t>JavaScript (JS) (Определения)</a:t>
            </a:r>
            <a:endParaRPr lang="ru-RU" dirty="0"/>
          </a:p>
        </p:txBody>
      </p:sp>
      <p:sp>
        <p:nvSpPr>
          <p:cNvPr id="3" name="Объект 2">
            <a:extLst>
              <a:ext uri="{FF2B5EF4-FFF2-40B4-BE49-F238E27FC236}">
                <a16:creationId xmlns:a16="http://schemas.microsoft.com/office/drawing/2014/main" id="{71434380-C0BF-4CFB-AEBA-7ABDA66E54A7}"/>
              </a:ext>
            </a:extLst>
          </p:cNvPr>
          <p:cNvSpPr>
            <a:spLocks noGrp="1"/>
          </p:cNvSpPr>
          <p:nvPr>
            <p:ph idx="1"/>
          </p:nvPr>
        </p:nvSpPr>
        <p:spPr/>
        <p:txBody>
          <a:bodyPr>
            <a:normAutofit fontScale="70000" lnSpcReduction="20000"/>
          </a:bodyPr>
          <a:lstStyle/>
          <a:p>
            <a:pPr algn="l"/>
            <a:r>
              <a:rPr lang="ru-RU" b="1" dirty="0">
                <a:solidFill>
                  <a:srgbClr val="333333"/>
                </a:solidFill>
                <a:effectLst/>
                <a:latin typeface="YS Text"/>
              </a:rPr>
              <a:t>JavaScript (JS) — это язык программирования, который делает сайты интерактивными</a:t>
            </a:r>
            <a:r>
              <a:rPr lang="ru-RU" b="0" dirty="0">
                <a:solidFill>
                  <a:srgbClr val="333333"/>
                </a:solidFill>
                <a:effectLst/>
                <a:latin typeface="YS Text"/>
              </a:rPr>
              <a:t>. Простыми словами, он позволяет: </a:t>
            </a:r>
            <a:endParaRPr lang="en-US" b="0" dirty="0">
              <a:solidFill>
                <a:srgbClr val="333333"/>
              </a:solidFill>
              <a:effectLst/>
              <a:latin typeface="YS Text"/>
            </a:endParaRPr>
          </a:p>
          <a:p>
            <a:pPr algn="l"/>
            <a:r>
              <a:rPr lang="ru-RU" b="1" i="0" dirty="0">
                <a:solidFill>
                  <a:srgbClr val="333333"/>
                </a:solidFill>
                <a:effectLst/>
                <a:latin typeface="YS Text"/>
              </a:rPr>
              <a:t>Реагировать на действия пользователя</a:t>
            </a:r>
            <a:r>
              <a:rPr lang="ru-RU" b="0" i="0" dirty="0">
                <a:solidFill>
                  <a:srgbClr val="333333"/>
                </a:solidFill>
                <a:effectLst/>
                <a:latin typeface="YS Text"/>
              </a:rPr>
              <a:t>: клики, наведение мыши, ввод текста, отправку формы и другие действия.</a:t>
            </a:r>
          </a:p>
          <a:p>
            <a:pPr algn="l">
              <a:buFont typeface="Arial" panose="020B0604020202020204" pitchFamily="34" charset="0"/>
              <a:buChar char="•"/>
            </a:pPr>
            <a:r>
              <a:rPr lang="ru-RU" b="1" i="0" dirty="0">
                <a:solidFill>
                  <a:srgbClr val="333333"/>
                </a:solidFill>
                <a:effectLst/>
                <a:latin typeface="YS Text"/>
              </a:rPr>
              <a:t>Управлять содержимым страницы</a:t>
            </a:r>
            <a:r>
              <a:rPr lang="ru-RU" b="0" i="0" dirty="0">
                <a:solidFill>
                  <a:srgbClr val="333333"/>
                </a:solidFill>
                <a:effectLst/>
                <a:latin typeface="YS Text"/>
              </a:rPr>
              <a:t>: изменять HTML-код, добавлять новый, менять стили.</a:t>
            </a:r>
          </a:p>
          <a:p>
            <a:pPr marL="0" indent="0" algn="l">
              <a:buNone/>
            </a:pPr>
            <a:r>
              <a:rPr lang="ru-RU" b="0" i="0" dirty="0">
                <a:solidFill>
                  <a:srgbClr val="333333"/>
                </a:solidFill>
                <a:effectLst/>
                <a:latin typeface="YS Text"/>
              </a:rPr>
              <a:t>- </a:t>
            </a:r>
            <a:r>
              <a:rPr lang="ru-RU" sz="2900" b="1" i="1" dirty="0">
                <a:solidFill>
                  <a:srgbClr val="333333"/>
                </a:solidFill>
                <a:effectLst/>
                <a:latin typeface="YS Text"/>
              </a:rPr>
              <a:t>HTML-код </a:t>
            </a:r>
            <a:r>
              <a:rPr lang="ru-RU" sz="2900" i="1" dirty="0">
                <a:solidFill>
                  <a:srgbClr val="333333"/>
                </a:solidFill>
                <a:effectLst/>
                <a:latin typeface="YS Text"/>
              </a:rPr>
              <a:t>(</a:t>
            </a:r>
            <a:r>
              <a:rPr lang="ru-RU" sz="2900" i="1" dirty="0" err="1">
                <a:solidFill>
                  <a:srgbClr val="333333"/>
                </a:solidFill>
                <a:effectLst/>
                <a:latin typeface="YS Text"/>
              </a:rPr>
              <a:t>HyperText</a:t>
            </a:r>
            <a:r>
              <a:rPr lang="ru-RU" sz="2900" i="1" dirty="0">
                <a:solidFill>
                  <a:srgbClr val="333333"/>
                </a:solidFill>
                <a:effectLst/>
                <a:latin typeface="YS Text"/>
              </a:rPr>
              <a:t> </a:t>
            </a:r>
            <a:r>
              <a:rPr lang="ru-RU" sz="2900" i="1" dirty="0" err="1">
                <a:solidFill>
                  <a:srgbClr val="333333"/>
                </a:solidFill>
                <a:effectLst/>
                <a:latin typeface="YS Text"/>
              </a:rPr>
              <a:t>Markup</a:t>
            </a:r>
            <a:r>
              <a:rPr lang="ru-RU" sz="2900" i="1" dirty="0">
                <a:solidFill>
                  <a:srgbClr val="333333"/>
                </a:solidFill>
                <a:effectLst/>
                <a:latin typeface="YS Text"/>
              </a:rPr>
              <a:t> Language) — это язык разметки, который описывает, как должна выглядеть веб-страница в браузере. Он не программирует, а описывает структуру страницы: где заголовок, где картинка, где текст, куда ведёт ссылка и так далее.</a:t>
            </a:r>
          </a:p>
          <a:p>
            <a:pPr algn="l">
              <a:buFont typeface="Arial" panose="020B0604020202020204" pitchFamily="34" charset="0"/>
              <a:buChar char="•"/>
            </a:pPr>
            <a:r>
              <a:rPr lang="ru-RU" b="1" i="0" dirty="0">
                <a:solidFill>
                  <a:srgbClr val="333333"/>
                </a:solidFill>
                <a:effectLst/>
                <a:latin typeface="YS Text"/>
              </a:rPr>
              <a:t>Загружать данные</a:t>
            </a:r>
            <a:r>
              <a:rPr lang="ru-RU" b="0" i="0" dirty="0">
                <a:solidFill>
                  <a:srgbClr val="333333"/>
                </a:solidFill>
                <a:effectLst/>
                <a:latin typeface="YS Text"/>
              </a:rPr>
              <a:t> без перезагрузки страницы.</a:t>
            </a:r>
          </a:p>
          <a:p>
            <a:pPr algn="l">
              <a:buFont typeface="Arial" panose="020B0604020202020204" pitchFamily="34" charset="0"/>
              <a:buChar char="•"/>
            </a:pPr>
            <a:r>
              <a:rPr lang="ru-RU" b="1" i="0" dirty="0">
                <a:solidFill>
                  <a:srgbClr val="333333"/>
                </a:solidFill>
                <a:effectLst/>
                <a:latin typeface="YS Text"/>
              </a:rPr>
              <a:t>Создавать полноценные веб-приложения</a:t>
            </a:r>
            <a:r>
              <a:rPr lang="ru-RU" b="0" i="0" dirty="0">
                <a:solidFill>
                  <a:srgbClr val="333333"/>
                </a:solidFill>
                <a:effectLst/>
                <a:latin typeface="YS Text"/>
              </a:rPr>
              <a:t> прямо в браузере.</a:t>
            </a:r>
          </a:p>
          <a:p>
            <a:endParaRPr lang="ru-RU" dirty="0"/>
          </a:p>
        </p:txBody>
      </p:sp>
    </p:spTree>
    <p:extLst>
      <p:ext uri="{BB962C8B-B14F-4D97-AF65-F5344CB8AC3E}">
        <p14:creationId xmlns:p14="http://schemas.microsoft.com/office/powerpoint/2010/main" val="3489967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5B6789B-C426-4808-ABD9-B42894245BEB}"/>
              </a:ext>
            </a:extLst>
          </p:cNvPr>
          <p:cNvSpPr>
            <a:spLocks noGrp="1"/>
          </p:cNvSpPr>
          <p:nvPr>
            <p:ph type="title"/>
          </p:nvPr>
        </p:nvSpPr>
        <p:spPr>
          <a:xfrm>
            <a:off x="457200" y="274638"/>
            <a:ext cx="8229600" cy="778098"/>
          </a:xfrm>
        </p:spPr>
        <p:txBody>
          <a:bodyPr/>
          <a:lstStyle/>
          <a:p>
            <a:r>
              <a:rPr lang="ru-RU" dirty="0"/>
              <a:t>Определения</a:t>
            </a:r>
          </a:p>
        </p:txBody>
      </p:sp>
      <p:sp>
        <p:nvSpPr>
          <p:cNvPr id="3" name="Объект 2">
            <a:extLst>
              <a:ext uri="{FF2B5EF4-FFF2-40B4-BE49-F238E27FC236}">
                <a16:creationId xmlns:a16="http://schemas.microsoft.com/office/drawing/2014/main" id="{3BF2D714-440F-43B5-91D0-54055CBA121F}"/>
              </a:ext>
            </a:extLst>
          </p:cNvPr>
          <p:cNvSpPr>
            <a:spLocks noGrp="1"/>
          </p:cNvSpPr>
          <p:nvPr>
            <p:ph idx="1"/>
          </p:nvPr>
        </p:nvSpPr>
        <p:spPr>
          <a:xfrm>
            <a:off x="475025" y="964294"/>
            <a:ext cx="8229600" cy="5561050"/>
          </a:xfrm>
        </p:spPr>
        <p:txBody>
          <a:bodyPr>
            <a:noAutofit/>
          </a:bodyPr>
          <a:lstStyle/>
          <a:p>
            <a:r>
              <a:rPr lang="ru-RU" sz="1800" b="1" i="0" dirty="0" err="1">
                <a:solidFill>
                  <a:srgbClr val="333333"/>
                </a:solidFill>
                <a:effectLst/>
                <a:latin typeface="YS Text"/>
              </a:rPr>
              <a:t>VirtualBox</a:t>
            </a:r>
            <a:r>
              <a:rPr lang="ru-RU" sz="1800" b="0" i="0" dirty="0">
                <a:solidFill>
                  <a:srgbClr val="333333"/>
                </a:solidFill>
                <a:effectLst/>
                <a:latin typeface="YS Text"/>
              </a:rPr>
              <a:t> — </a:t>
            </a:r>
            <a:r>
              <a:rPr lang="ru-RU" sz="1800" i="0" dirty="0">
                <a:solidFill>
                  <a:srgbClr val="333333"/>
                </a:solidFill>
                <a:effectLst/>
                <a:latin typeface="YS Text"/>
              </a:rPr>
              <a:t>программное обеспечение для виртуализации, которое позволяет запускать несколько операционных систем (ОС) на одном физическом компьютере. Программа создаёт виртуальную машину (ВМ) — цифровой аналог физического компьютера, который работает внутри основной (</a:t>
            </a:r>
            <a:r>
              <a:rPr lang="ru-RU" sz="1800" i="0" dirty="0" err="1">
                <a:solidFill>
                  <a:srgbClr val="333333"/>
                </a:solidFill>
                <a:effectLst/>
                <a:latin typeface="YS Text"/>
              </a:rPr>
              <a:t>хостовой</a:t>
            </a:r>
            <a:r>
              <a:rPr lang="ru-RU" sz="1800" i="0" dirty="0">
                <a:solidFill>
                  <a:srgbClr val="333333"/>
                </a:solidFill>
                <a:effectLst/>
                <a:latin typeface="YS Text"/>
              </a:rPr>
              <a:t>) ОС.</a:t>
            </a:r>
          </a:p>
          <a:p>
            <a:endParaRPr lang="ru-RU" sz="1800" b="0" i="0" dirty="0">
              <a:solidFill>
                <a:srgbClr val="333333"/>
              </a:solidFill>
              <a:effectLst/>
              <a:latin typeface="YS Text"/>
            </a:endParaRPr>
          </a:p>
          <a:p>
            <a:r>
              <a:rPr lang="ru-RU" sz="1800" b="1" i="0" dirty="0">
                <a:solidFill>
                  <a:srgbClr val="333333"/>
                </a:solidFill>
                <a:effectLst/>
                <a:latin typeface="YS Text"/>
              </a:rPr>
              <a:t>VMware</a:t>
            </a:r>
            <a:r>
              <a:rPr lang="ru-RU" sz="1800" b="0" i="0" dirty="0">
                <a:solidFill>
                  <a:srgbClr val="333333"/>
                </a:solidFill>
                <a:effectLst/>
                <a:latin typeface="YS Text"/>
              </a:rPr>
              <a:t> — это </a:t>
            </a:r>
            <a:r>
              <a:rPr lang="ru-RU" sz="1800" i="0" dirty="0">
                <a:solidFill>
                  <a:srgbClr val="333333"/>
                </a:solidFill>
                <a:effectLst/>
                <a:latin typeface="YS Text"/>
              </a:rPr>
              <a:t>компания, специализирующаяся на разработке программного обеспечения для виртуализации. Простыми словами, её продукты позволяют создавать изолированные программные среды (виртуальные машины) на одном физическом оборудовании. Вместо того, чтобы выделять отдельный сервер под каждую задачу, виртуализация даёт возможность запускать несколько независимых операционных систем и приложений на одном железе, эффективно распределяя его ресурсы.</a:t>
            </a:r>
          </a:p>
          <a:p>
            <a:endParaRPr lang="ru-RU" sz="1800" i="0" dirty="0">
              <a:solidFill>
                <a:srgbClr val="333333"/>
              </a:solidFill>
              <a:effectLst/>
              <a:latin typeface="YS Text"/>
            </a:endParaRPr>
          </a:p>
          <a:p>
            <a:r>
              <a:rPr lang="ru-RU" sz="1800" b="1" i="0" dirty="0">
                <a:solidFill>
                  <a:srgbClr val="333333"/>
                </a:solidFill>
                <a:effectLst/>
                <a:latin typeface="YS Text"/>
              </a:rPr>
              <a:t>JIT-компиляция</a:t>
            </a:r>
            <a:r>
              <a:rPr lang="ru-RU" sz="1800" b="0" i="0" dirty="0">
                <a:solidFill>
                  <a:srgbClr val="333333"/>
                </a:solidFill>
                <a:effectLst/>
                <a:latin typeface="YS Text"/>
              </a:rPr>
              <a:t> </a:t>
            </a:r>
            <a:r>
              <a:rPr lang="ru-RU" sz="1800" i="0" dirty="0">
                <a:solidFill>
                  <a:srgbClr val="333333"/>
                </a:solidFill>
                <a:effectLst/>
                <a:latin typeface="YS Text"/>
              </a:rPr>
              <a:t>(англ. </a:t>
            </a:r>
            <a:r>
              <a:rPr lang="ru-RU" sz="1800" i="0" dirty="0" err="1">
                <a:solidFill>
                  <a:srgbClr val="333333"/>
                </a:solidFill>
                <a:effectLst/>
                <a:latin typeface="YS Text"/>
              </a:rPr>
              <a:t>just-in-time</a:t>
            </a:r>
            <a:r>
              <a:rPr lang="ru-RU" sz="1800" i="0" dirty="0">
                <a:solidFill>
                  <a:srgbClr val="333333"/>
                </a:solidFill>
                <a:effectLst/>
                <a:latin typeface="YS Text"/>
              </a:rPr>
              <a:t>, компиляция «точно в нужное время») — технология увеличения производительности программных систем, использующих байт-код, путём компиляции байт-кода в машинный код или в другой формат непосредственно во время работы программы. Также известна как динамическая компиляция. </a:t>
            </a:r>
            <a:br>
              <a:rPr lang="ru-RU" sz="1800" b="0" u="none" strike="noStrike" dirty="0">
                <a:effectLst/>
                <a:latin typeface="YS Text"/>
                <a:hlinkClick r:id="rId2"/>
              </a:rPr>
            </a:br>
            <a:endParaRPr lang="ru-RU" sz="1800" dirty="0"/>
          </a:p>
        </p:txBody>
      </p:sp>
    </p:spTree>
    <p:extLst>
      <p:ext uri="{BB962C8B-B14F-4D97-AF65-F5344CB8AC3E}">
        <p14:creationId xmlns:p14="http://schemas.microsoft.com/office/powerpoint/2010/main" val="11082055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Why so many levels?</a:t>
            </a:r>
            <a:endParaRPr lang="ru-RU" dirty="0"/>
          </a:p>
        </p:txBody>
      </p:sp>
      <p:sp>
        <p:nvSpPr>
          <p:cNvPr id="3" name="Содержимое 2"/>
          <p:cNvSpPr>
            <a:spLocks noGrp="1"/>
          </p:cNvSpPr>
          <p:nvPr>
            <p:ph idx="1"/>
          </p:nvPr>
        </p:nvSpPr>
        <p:spPr/>
        <p:txBody>
          <a:bodyPr>
            <a:normAutofit fontScale="85000" lnSpcReduction="20000"/>
          </a:bodyPr>
          <a:lstStyle/>
          <a:p>
            <a:r>
              <a:rPr lang="ru-RU" dirty="0"/>
              <a:t>Короткий ответ:</a:t>
            </a:r>
            <a:endParaRPr lang="en-US" dirty="0"/>
          </a:p>
          <a:p>
            <a:pPr lvl="1"/>
            <a:r>
              <a:rPr lang="ru-RU" dirty="0"/>
              <a:t>Современные компьютерные системы очень сложны.</a:t>
            </a:r>
          </a:p>
          <a:p>
            <a:pPr lvl="1"/>
            <a:r>
              <a:rPr lang="ru-RU" dirty="0"/>
              <a:t>Иерархия — один из лучших способов справиться со сложностью.</a:t>
            </a:r>
            <a:endParaRPr lang="en-US" dirty="0"/>
          </a:p>
          <a:p>
            <a:r>
              <a:rPr lang="ru-RU" dirty="0"/>
              <a:t>Еще один короткий ответ:</a:t>
            </a:r>
            <a:endParaRPr lang="en-US" dirty="0"/>
          </a:p>
          <a:p>
            <a:pPr lvl="1"/>
            <a:r>
              <a:rPr lang="ru-RU" dirty="0"/>
              <a:t>Вы можете упростить программирование (=&gt; писать более сложные программы), поручив компьютеру помогать вам писать </a:t>
            </a:r>
            <a:r>
              <a:rPr lang="ru-RU" dirty="0" err="1"/>
              <a:t>программы.А</a:t>
            </a:r>
            <a:r>
              <a:rPr lang="ru-RU" dirty="0"/>
              <a:t> потом всё вышло из-под контроля.</a:t>
            </a:r>
            <a:endParaRPr lang="en-US" dirty="0"/>
          </a:p>
          <a:p>
            <a:r>
              <a:rPr lang="ru-RU" dirty="0"/>
              <a:t>Длинный ответ:</a:t>
            </a:r>
            <a:endParaRPr lang="en-US" dirty="0"/>
          </a:p>
          <a:p>
            <a:pPr lvl="1"/>
            <a:r>
              <a:rPr lang="ru-RU" dirty="0"/>
              <a:t>Вероятно, вы поймете это, когда изучите несколько платформ разного уровня.</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What is virtual machine</a:t>
            </a:r>
            <a:endParaRPr lang="ru-RU" dirty="0"/>
          </a:p>
        </p:txBody>
      </p:sp>
      <p:sp>
        <p:nvSpPr>
          <p:cNvPr id="3" name="Содержимое 2"/>
          <p:cNvSpPr>
            <a:spLocks noGrp="1"/>
          </p:cNvSpPr>
          <p:nvPr>
            <p:ph idx="1"/>
          </p:nvPr>
        </p:nvSpPr>
        <p:spPr/>
        <p:txBody>
          <a:bodyPr>
            <a:normAutofit fontScale="70000" lnSpcReduction="20000"/>
          </a:bodyPr>
          <a:lstStyle/>
          <a:p>
            <a:r>
              <a:rPr lang="ru-RU" dirty="0"/>
              <a:t>В этом курсе виртуальная машина — это платформа, которая отличается от платформы более низкого уровня.</a:t>
            </a:r>
            <a:endParaRPr lang="en-US" dirty="0"/>
          </a:p>
          <a:p>
            <a:pPr lvl="1"/>
            <a:r>
              <a:rPr lang="ru-RU" dirty="0"/>
              <a:t>В других учебниках и документах могут использоваться другие определения.</a:t>
            </a:r>
            <a:endParaRPr lang="en-US" dirty="0"/>
          </a:p>
          <a:p>
            <a:r>
              <a:rPr lang="ru-RU" dirty="0"/>
              <a:t>Обычно, платформу более высокого уровня легче программировать.</a:t>
            </a:r>
            <a:endParaRPr lang="en-US" dirty="0"/>
          </a:p>
          <a:p>
            <a:r>
              <a:rPr lang="ru-RU" dirty="0"/>
              <a:t>Итак, большая часть программирования выполняется на уровне 4 и выше.</a:t>
            </a:r>
            <a:endParaRPr lang="en-US" dirty="0"/>
          </a:p>
          <a:p>
            <a:r>
              <a:rPr lang="ru-RU" dirty="0"/>
              <a:t>Другие причины создания виртуальных машин:</a:t>
            </a:r>
            <a:endParaRPr lang="en-US" dirty="0"/>
          </a:p>
          <a:p>
            <a:pPr lvl="1"/>
            <a:r>
              <a:rPr lang="ru-RU" dirty="0"/>
              <a:t>Для запуска программ со старых или других платформ</a:t>
            </a:r>
          </a:p>
          <a:p>
            <a:pPr lvl="1"/>
            <a:r>
              <a:rPr lang="ru-RU" dirty="0"/>
              <a:t>Для запуска нескольких платформ на одной физической машине</a:t>
            </a:r>
          </a:p>
          <a:p>
            <a:pPr lvl="1"/>
            <a:r>
              <a:rPr lang="ru-RU" dirty="0"/>
              <a:t>Для помощи в тестировании и отладке</a:t>
            </a:r>
          </a:p>
          <a:p>
            <a:pPr lvl="1"/>
            <a:r>
              <a:rPr lang="ru-RU" dirty="0"/>
              <a:t>И т.д.</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2089AFF-A9B3-1542-9534-45EFF90954EC}"/>
              </a:ext>
            </a:extLst>
          </p:cNvPr>
          <p:cNvSpPr>
            <a:spLocks noGrp="1"/>
          </p:cNvSpPr>
          <p:nvPr>
            <p:ph type="title"/>
          </p:nvPr>
        </p:nvSpPr>
        <p:spPr/>
        <p:txBody>
          <a:bodyPr>
            <a:normAutofit/>
          </a:bodyPr>
          <a:lstStyle/>
          <a:p>
            <a:r>
              <a:rPr lang="en-US" dirty="0"/>
              <a:t>Why study low level platforms?</a:t>
            </a:r>
            <a:endParaRPr lang="ru-RU" dirty="0"/>
          </a:p>
        </p:txBody>
      </p:sp>
      <p:sp>
        <p:nvSpPr>
          <p:cNvPr id="3" name="Объект 2">
            <a:extLst>
              <a:ext uri="{FF2B5EF4-FFF2-40B4-BE49-F238E27FC236}">
                <a16:creationId xmlns:a16="http://schemas.microsoft.com/office/drawing/2014/main" id="{F026A5B0-391F-1647-B216-E79F2F88650B}"/>
              </a:ext>
            </a:extLst>
          </p:cNvPr>
          <p:cNvSpPr>
            <a:spLocks noGrp="1"/>
          </p:cNvSpPr>
          <p:nvPr>
            <p:ph idx="1"/>
          </p:nvPr>
        </p:nvSpPr>
        <p:spPr/>
        <p:txBody>
          <a:bodyPr>
            <a:normAutofit fontScale="85000" lnSpcReduction="20000"/>
          </a:bodyPr>
          <a:lstStyle/>
          <a:p>
            <a:r>
              <a:rPr lang="ru-RU" dirty="0"/>
              <a:t>Виртуальные машины не идеальны</a:t>
            </a:r>
          </a:p>
          <a:p>
            <a:r>
              <a:rPr lang="ru-RU" dirty="0"/>
              <a:t>Виртуальная машина пытается изолировать вас от деталей платформы нижнего уровня, но это невозможно.</a:t>
            </a:r>
          </a:p>
          <a:p>
            <a:r>
              <a:rPr lang="ru-RU" dirty="0"/>
              <a:t>Специфика платформ нижнего уровня (ограничения ресурсов, узкие места производительности, логические ограничения и т. д.) просачивается на уровни выше.</a:t>
            </a:r>
          </a:p>
          <a:p>
            <a:r>
              <a:rPr lang="ru-RU" dirty="0"/>
              <a:t>Если вы знакомы с платформами нижнего уровня, вы будете гораздо лучше понимать платформы более высокого уровня (например, язык программирования C или операционные системы).</a:t>
            </a:r>
          </a:p>
        </p:txBody>
      </p:sp>
    </p:spTree>
    <p:extLst>
      <p:ext uri="{BB962C8B-B14F-4D97-AF65-F5344CB8AC3E}">
        <p14:creationId xmlns:p14="http://schemas.microsoft.com/office/powerpoint/2010/main" val="1778840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a:t>Language translation</a:t>
            </a:r>
            <a:endParaRPr lang="ru-RU" dirty="0"/>
          </a:p>
        </p:txBody>
      </p:sp>
      <p:sp>
        <p:nvSpPr>
          <p:cNvPr id="3" name="Содержимое 2"/>
          <p:cNvSpPr>
            <a:spLocks noGrp="1"/>
          </p:cNvSpPr>
          <p:nvPr>
            <p:ph idx="1"/>
          </p:nvPr>
        </p:nvSpPr>
        <p:spPr/>
        <p:txBody>
          <a:bodyPr>
            <a:normAutofit fontScale="70000" lnSpcReduction="20000"/>
          </a:bodyPr>
          <a:lstStyle/>
          <a:p>
            <a:r>
              <a:rPr lang="ru-RU" dirty="0"/>
              <a:t>Создать виртуальную машину ~= создать механизм для перевода языка платформы на платформу более низкого уровня</a:t>
            </a:r>
            <a:endParaRPr lang="en-US" dirty="0"/>
          </a:p>
          <a:p>
            <a:r>
              <a:rPr lang="ru-RU" dirty="0"/>
              <a:t>Два основных метода:</a:t>
            </a:r>
            <a:endParaRPr lang="en-US" dirty="0"/>
          </a:p>
          <a:p>
            <a:pPr lvl="1"/>
            <a:r>
              <a:rPr lang="ru-RU" dirty="0"/>
              <a:t>Компиляция</a:t>
            </a:r>
            <a:endParaRPr lang="en-US" dirty="0"/>
          </a:p>
          <a:p>
            <a:pPr lvl="2"/>
            <a:r>
              <a:rPr lang="ru-RU" dirty="0"/>
              <a:t>Вы берете исходную программу и генерируете новую (предположительно эквивалентную) программу на целевом языке.</a:t>
            </a:r>
            <a:endParaRPr lang="en-US" dirty="0"/>
          </a:p>
          <a:p>
            <a:pPr lvl="1"/>
            <a:r>
              <a:rPr lang="ru-RU" dirty="0"/>
              <a:t>Интерпретация</a:t>
            </a:r>
            <a:endParaRPr lang="en-US" dirty="0"/>
          </a:p>
          <a:p>
            <a:pPr lvl="2"/>
            <a:r>
              <a:rPr lang="ru-RU" dirty="0"/>
              <a:t>Вы берете исходную программу и интерпретируете ее оператор за оператором.</a:t>
            </a:r>
            <a:endParaRPr lang="en-US" dirty="0"/>
          </a:p>
          <a:p>
            <a:r>
              <a:rPr lang="ru-RU" dirty="0"/>
              <a:t>Язык самого низкого уровня должен быть интерпретирован, поскольку (по определению) не существует родного языка самого низкого уровня.</a:t>
            </a:r>
            <a:endParaRPr lang="en-US" dirty="0"/>
          </a:p>
          <a:p>
            <a:r>
              <a:rPr lang="ru-RU" dirty="0"/>
              <a:t>Существуют гибридные методы, такие как JIT-компиляция.</a:t>
            </a:r>
            <a:endParaRPr lang="en-US" dirty="0"/>
          </a:p>
          <a:p>
            <a:pPr lvl="1"/>
            <a:r>
              <a:rPr lang="ru-RU" dirty="0"/>
              <a:t>Но мы не будем их сейчас обсуждать.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CB65FF-1E6A-1A43-975E-48028CD108A5}"/>
              </a:ext>
            </a:extLst>
          </p:cNvPr>
          <p:cNvSpPr>
            <a:spLocks noGrp="1"/>
          </p:cNvSpPr>
          <p:nvPr>
            <p:ph type="title"/>
          </p:nvPr>
        </p:nvSpPr>
        <p:spPr/>
        <p:txBody>
          <a:bodyPr/>
          <a:lstStyle/>
          <a:p>
            <a:r>
              <a:rPr lang="en-US" dirty="0"/>
              <a:t>Advantages of compilation</a:t>
            </a:r>
            <a:endParaRPr lang="ru-RU" dirty="0"/>
          </a:p>
        </p:txBody>
      </p:sp>
      <p:sp>
        <p:nvSpPr>
          <p:cNvPr id="3" name="Объект 2">
            <a:extLst>
              <a:ext uri="{FF2B5EF4-FFF2-40B4-BE49-F238E27FC236}">
                <a16:creationId xmlns:a16="http://schemas.microsoft.com/office/drawing/2014/main" id="{3B4E5343-23F6-1B4C-A3DD-0D6884E13A31}"/>
              </a:ext>
            </a:extLst>
          </p:cNvPr>
          <p:cNvSpPr>
            <a:spLocks noGrp="1"/>
          </p:cNvSpPr>
          <p:nvPr>
            <p:ph idx="1"/>
          </p:nvPr>
        </p:nvSpPr>
        <p:spPr/>
        <p:txBody>
          <a:bodyPr>
            <a:normAutofit fontScale="92500" lnSpcReduction="20000"/>
          </a:bodyPr>
          <a:lstStyle/>
          <a:p>
            <a:r>
              <a:rPr lang="ru-RU" dirty="0"/>
              <a:t>Скомпилированная программа ничем не отличается от программы на родном языке. </a:t>
            </a:r>
            <a:r>
              <a:rPr lang="en-US" dirty="0"/>
              <a:t>  </a:t>
            </a:r>
            <a:br>
              <a:rPr lang="en-US" dirty="0"/>
            </a:br>
            <a:r>
              <a:rPr lang="ru-RU" dirty="0"/>
              <a:t>На самом деле это «родная» программа </a:t>
            </a:r>
            <a:endParaRPr lang="en-US" dirty="0"/>
          </a:p>
          <a:p>
            <a:r>
              <a:rPr lang="ru-RU" dirty="0"/>
              <a:t>Это означает, что нет никаких накладных расходов во время выполнения.</a:t>
            </a:r>
            <a:r>
              <a:rPr lang="en-US" dirty="0"/>
              <a:t> </a:t>
            </a:r>
          </a:p>
          <a:p>
            <a:pPr lvl="1"/>
            <a:r>
              <a:rPr lang="ru-RU" dirty="0"/>
              <a:t>Скомпилированная программа может быть неоптимальной, это можно рассматривать как форму накладных расходов</a:t>
            </a:r>
            <a:endParaRPr lang="en-US" dirty="0"/>
          </a:p>
          <a:p>
            <a:r>
              <a:rPr lang="ru-RU" dirty="0"/>
              <a:t>Современные компиляторы очень хороши в написании оптимальных программ, в среднем лучше, чем люди.</a:t>
            </a:r>
            <a:endParaRPr lang="en-US" dirty="0"/>
          </a:p>
        </p:txBody>
      </p:sp>
    </p:spTree>
    <p:extLst>
      <p:ext uri="{BB962C8B-B14F-4D97-AF65-F5344CB8AC3E}">
        <p14:creationId xmlns:p14="http://schemas.microsoft.com/office/powerpoint/2010/main" val="1699359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0D2D3C-1C90-9C43-B53C-A50CE3211A5A}"/>
              </a:ext>
            </a:extLst>
          </p:cNvPr>
          <p:cNvSpPr>
            <a:spLocks noGrp="1"/>
          </p:cNvSpPr>
          <p:nvPr>
            <p:ph type="title"/>
          </p:nvPr>
        </p:nvSpPr>
        <p:spPr/>
        <p:txBody>
          <a:bodyPr/>
          <a:lstStyle/>
          <a:p>
            <a:r>
              <a:rPr lang="en-US" dirty="0"/>
              <a:t>Advantages of interpretation</a:t>
            </a:r>
            <a:endParaRPr lang="ru-RU" dirty="0"/>
          </a:p>
        </p:txBody>
      </p:sp>
      <p:sp>
        <p:nvSpPr>
          <p:cNvPr id="3" name="Объект 2">
            <a:extLst>
              <a:ext uri="{FF2B5EF4-FFF2-40B4-BE49-F238E27FC236}">
                <a16:creationId xmlns:a16="http://schemas.microsoft.com/office/drawing/2014/main" id="{D66CF8A9-E955-B04F-BFA5-01C8A218C7D2}"/>
              </a:ext>
            </a:extLst>
          </p:cNvPr>
          <p:cNvSpPr>
            <a:spLocks noGrp="1"/>
          </p:cNvSpPr>
          <p:nvPr>
            <p:ph idx="1"/>
          </p:nvPr>
        </p:nvSpPr>
        <p:spPr/>
        <p:txBody>
          <a:bodyPr>
            <a:normAutofit/>
          </a:bodyPr>
          <a:lstStyle/>
          <a:p>
            <a:r>
              <a:rPr lang="ru-RU" dirty="0"/>
              <a:t>Интерпретатор часто проще компилятора</a:t>
            </a:r>
            <a:endParaRPr lang="en-US" dirty="0"/>
          </a:p>
          <a:p>
            <a:r>
              <a:rPr lang="ru-RU" dirty="0"/>
              <a:t>Вы можете выполнять проверки во время выполнения (реализовать «песочницу») и запускать ненадежные программы.</a:t>
            </a:r>
            <a:endParaRPr lang="en-US" dirty="0"/>
          </a:p>
          <a:p>
            <a:r>
              <a:rPr lang="ru-RU" dirty="0"/>
              <a:t>Обработка ошибок во время выполнения стала намного проще</a:t>
            </a:r>
            <a:endParaRPr lang="en-US" dirty="0"/>
          </a:p>
          <a:p>
            <a:r>
              <a:rPr lang="ru-RU" dirty="0"/>
              <a:t>Цикл разработки и отладки может быть ускорен (без фазы компиляции)</a:t>
            </a:r>
            <a:endParaRPr lang="en-US" dirty="0"/>
          </a:p>
          <a:p>
            <a:endParaRPr lang="ru-RU" dirty="0"/>
          </a:p>
        </p:txBody>
      </p:sp>
    </p:spTree>
    <p:extLst>
      <p:ext uri="{BB962C8B-B14F-4D97-AF65-F5344CB8AC3E}">
        <p14:creationId xmlns:p14="http://schemas.microsoft.com/office/powerpoint/2010/main" val="5913883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A8A4F9-78FF-C649-9A31-B9E2F74BE623}"/>
              </a:ext>
            </a:extLst>
          </p:cNvPr>
          <p:cNvSpPr>
            <a:spLocks noGrp="1"/>
          </p:cNvSpPr>
          <p:nvPr>
            <p:ph type="title"/>
          </p:nvPr>
        </p:nvSpPr>
        <p:spPr/>
        <p:txBody>
          <a:bodyPr/>
          <a:lstStyle/>
          <a:p>
            <a:r>
              <a:rPr lang="en-US" dirty="0"/>
              <a:t>Software and hardware</a:t>
            </a:r>
            <a:endParaRPr lang="ru-RU" dirty="0"/>
          </a:p>
        </p:txBody>
      </p:sp>
      <p:sp>
        <p:nvSpPr>
          <p:cNvPr id="3" name="Объект 2">
            <a:extLst>
              <a:ext uri="{FF2B5EF4-FFF2-40B4-BE49-F238E27FC236}">
                <a16:creationId xmlns:a16="http://schemas.microsoft.com/office/drawing/2014/main" id="{83AF9A4E-29DD-EF4C-8E0B-F790E5B9BE79}"/>
              </a:ext>
            </a:extLst>
          </p:cNvPr>
          <p:cNvSpPr>
            <a:spLocks noGrp="1"/>
          </p:cNvSpPr>
          <p:nvPr>
            <p:ph idx="1"/>
          </p:nvPr>
        </p:nvSpPr>
        <p:spPr/>
        <p:txBody>
          <a:bodyPr>
            <a:normAutofit fontScale="62500" lnSpcReduction="20000"/>
          </a:bodyPr>
          <a:lstStyle/>
          <a:p>
            <a:r>
              <a:rPr lang="ru-RU" dirty="0"/>
              <a:t>Программное и аппаратное обеспечение эквивалентны</a:t>
            </a:r>
            <a:endParaRPr lang="en-US" dirty="0"/>
          </a:p>
          <a:p>
            <a:pPr lvl="1"/>
            <a:r>
              <a:rPr lang="ru-RU" dirty="0"/>
              <a:t>За исключением того, что чистое программное обеспечение не может работать (для этого требуется определённое аппаратное обеспечение).</a:t>
            </a:r>
          </a:p>
          <a:p>
            <a:pPr lvl="1"/>
            <a:r>
              <a:rPr lang="ru-RU" dirty="0"/>
              <a:t>Для запуска программного обеспечения аппаратное обеспечение должно быть программируемым.</a:t>
            </a:r>
            <a:endParaRPr lang="en-US" dirty="0"/>
          </a:p>
          <a:p>
            <a:r>
              <a:rPr lang="ru-RU" dirty="0"/>
              <a:t>Любая конкретная функция может быть реализована как </a:t>
            </a:r>
            <a:r>
              <a:rPr lang="ru-RU" dirty="0" err="1"/>
              <a:t>аппаратно</a:t>
            </a:r>
            <a:r>
              <a:rPr lang="ru-RU" dirty="0"/>
              <a:t>, так и </a:t>
            </a:r>
            <a:r>
              <a:rPr lang="ru-RU" dirty="0" err="1"/>
              <a:t>программно</a:t>
            </a:r>
            <a:r>
              <a:rPr lang="ru-RU" dirty="0"/>
              <a:t>.</a:t>
            </a:r>
            <a:endParaRPr lang="en-US" dirty="0"/>
          </a:p>
          <a:p>
            <a:pPr lvl="1"/>
            <a:r>
              <a:rPr lang="ru-RU" dirty="0"/>
              <a:t>В этом курсе мы научимся реализовывать некоторые интересные функции на аппаратном уровне.</a:t>
            </a:r>
          </a:p>
          <a:p>
            <a:pPr lvl="1"/>
            <a:r>
              <a:rPr lang="ru-RU" dirty="0"/>
              <a:t>Надеюсь, это даст вам представление о том, как реализовать ещё более сложные функции, по сути, всё, что вы можете себе представить.</a:t>
            </a:r>
            <a:endParaRPr lang="en-US" dirty="0"/>
          </a:p>
          <a:p>
            <a:r>
              <a:rPr lang="ru-RU" dirty="0"/>
              <a:t>Существуют инструменты для описания конструкций оборудования на языках высокого уровня, аналогичных языкам программирования высокого уровня, и автоматического построения схем на основе этих описаний (компиляция кремния).</a:t>
            </a:r>
            <a:endParaRPr lang="en-US" dirty="0"/>
          </a:p>
          <a:p>
            <a:pPr lvl="1"/>
            <a:r>
              <a:rPr lang="ru-RU" dirty="0"/>
              <a:t>Большинство современных аппаратных средств разработаны с помощью таких инструментов.</a:t>
            </a:r>
            <a:endParaRPr lang="en-US" dirty="0"/>
          </a:p>
        </p:txBody>
      </p:sp>
    </p:spTree>
    <p:extLst>
      <p:ext uri="{BB962C8B-B14F-4D97-AF65-F5344CB8AC3E}">
        <p14:creationId xmlns:p14="http://schemas.microsoft.com/office/powerpoint/2010/main" val="5725521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644F801-B993-8F42-BCBC-6E96E8257DA6}"/>
              </a:ext>
            </a:extLst>
          </p:cNvPr>
          <p:cNvSpPr>
            <a:spLocks noGrp="1"/>
          </p:cNvSpPr>
          <p:nvPr>
            <p:ph type="title"/>
          </p:nvPr>
        </p:nvSpPr>
        <p:spPr/>
        <p:txBody>
          <a:bodyPr/>
          <a:lstStyle/>
          <a:p>
            <a:r>
              <a:rPr lang="en-US" dirty="0"/>
              <a:t>Reasons to choose </a:t>
            </a:r>
            <a:endParaRPr lang="ru-RU" dirty="0"/>
          </a:p>
        </p:txBody>
      </p:sp>
      <p:sp>
        <p:nvSpPr>
          <p:cNvPr id="3" name="Объект 2">
            <a:extLst>
              <a:ext uri="{FF2B5EF4-FFF2-40B4-BE49-F238E27FC236}">
                <a16:creationId xmlns:a16="http://schemas.microsoft.com/office/drawing/2014/main" id="{77CEEFB4-5893-314A-A51B-7DDCFE9AA73E}"/>
              </a:ext>
            </a:extLst>
          </p:cNvPr>
          <p:cNvSpPr>
            <a:spLocks noGrp="1"/>
          </p:cNvSpPr>
          <p:nvPr>
            <p:ph idx="1"/>
          </p:nvPr>
        </p:nvSpPr>
        <p:spPr/>
        <p:txBody>
          <a:bodyPr>
            <a:normAutofit fontScale="77500" lnSpcReduction="20000"/>
          </a:bodyPr>
          <a:lstStyle/>
          <a:p>
            <a:r>
              <a:rPr lang="ru-RU" dirty="0"/>
              <a:t>Причины выбора между аппаратным и программным обеспечением в основном экономические.</a:t>
            </a:r>
          </a:p>
          <a:p>
            <a:r>
              <a:rPr lang="ru-RU" dirty="0"/>
              <a:t>Аппаратное обеспечение обычно быстрее, но это не всегда важно.</a:t>
            </a:r>
          </a:p>
          <a:p>
            <a:r>
              <a:rPr lang="ru-RU" dirty="0"/>
              <a:t>Программное обеспечение дешевле разрабатывать, копировать и модифицировать.</a:t>
            </a:r>
          </a:p>
          <a:p>
            <a:r>
              <a:rPr lang="ru-RU" dirty="0"/>
              <a:t>Сложные проекты практически всегда содержат ошибки.</a:t>
            </a:r>
            <a:endParaRPr lang="en-US" dirty="0"/>
          </a:p>
          <a:p>
            <a:pPr lvl="1"/>
            <a:r>
              <a:rPr lang="en-US" dirty="0"/>
              <a:t>You cannot use them if you cannot modify (fix) them</a:t>
            </a:r>
          </a:p>
          <a:p>
            <a:r>
              <a:rPr lang="ru-RU" dirty="0"/>
              <a:t>Многоуровневая организация позволяет перемещаться между аппаратными и программными реализациями, не нарушая работу платформ более высокого уровня.</a:t>
            </a:r>
            <a:endParaRPr lang="en-US" dirty="0"/>
          </a:p>
          <a:p>
            <a:pPr marL="0" indent="0">
              <a:buNone/>
            </a:pPr>
            <a:endParaRPr lang="en-US" dirty="0"/>
          </a:p>
          <a:p>
            <a:endParaRPr lang="ru-RU" dirty="0"/>
          </a:p>
        </p:txBody>
      </p:sp>
    </p:spTree>
    <p:extLst>
      <p:ext uri="{BB962C8B-B14F-4D97-AF65-F5344CB8AC3E}">
        <p14:creationId xmlns:p14="http://schemas.microsoft.com/office/powerpoint/2010/main" val="9558242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269688E-6798-4147-814B-CE141473402D}"/>
              </a:ext>
            </a:extLst>
          </p:cNvPr>
          <p:cNvSpPr>
            <a:spLocks noGrp="1"/>
          </p:cNvSpPr>
          <p:nvPr>
            <p:ph type="title"/>
          </p:nvPr>
        </p:nvSpPr>
        <p:spPr/>
        <p:txBody>
          <a:bodyPr/>
          <a:lstStyle/>
          <a:p>
            <a:r>
              <a:rPr lang="en-US" dirty="0"/>
              <a:t>Von Neumann computer</a:t>
            </a:r>
            <a:endParaRPr lang="ru-RU" dirty="0"/>
          </a:p>
        </p:txBody>
      </p:sp>
      <p:sp>
        <p:nvSpPr>
          <p:cNvPr id="3" name="Объект 2">
            <a:extLst>
              <a:ext uri="{FF2B5EF4-FFF2-40B4-BE49-F238E27FC236}">
                <a16:creationId xmlns:a16="http://schemas.microsoft.com/office/drawing/2014/main" id="{8226D883-CC0F-2A40-9F24-14E1B6A7DE13}"/>
              </a:ext>
            </a:extLst>
          </p:cNvPr>
          <p:cNvSpPr>
            <a:spLocks noGrp="1"/>
          </p:cNvSpPr>
          <p:nvPr>
            <p:ph idx="1"/>
          </p:nvPr>
        </p:nvSpPr>
        <p:spPr>
          <a:xfrm>
            <a:off x="457200" y="1417638"/>
            <a:ext cx="8229600" cy="4708525"/>
          </a:xfrm>
        </p:spPr>
        <p:txBody>
          <a:bodyPr>
            <a:normAutofit fontScale="70000" lnSpcReduction="20000"/>
          </a:bodyPr>
          <a:lstStyle/>
          <a:p>
            <a:r>
              <a:rPr lang="ru-RU" dirty="0"/>
              <a:t>Программируемая вычислительная платформа с оперативной памятью программ и данных.</a:t>
            </a:r>
          </a:p>
          <a:p>
            <a:r>
              <a:rPr lang="ru-RU" dirty="0"/>
              <a:t>Типичный пример платформы уровня 2.</a:t>
            </a:r>
          </a:p>
          <a:p>
            <a:r>
              <a:rPr lang="ru-RU" dirty="0"/>
              <a:t>Обычно интерпретатор.</a:t>
            </a:r>
            <a:endParaRPr lang="en-US" dirty="0"/>
          </a:p>
          <a:p>
            <a:pPr lvl="1"/>
            <a:r>
              <a:rPr lang="ru-RU" dirty="0"/>
              <a:t>были попытки реализовать так называемую бинарную компиляцию, но они не увенчались успехом, и на это есть свои причины.</a:t>
            </a:r>
            <a:endParaRPr lang="en-US" dirty="0"/>
          </a:p>
          <a:p>
            <a:r>
              <a:rPr lang="ru-RU" dirty="0"/>
              <a:t>Один из наиболее широко используемых типов программируемого оборудования</a:t>
            </a:r>
            <a:r>
              <a:rPr lang="en-US" dirty="0"/>
              <a:t> </a:t>
            </a:r>
          </a:p>
          <a:p>
            <a:pPr lvl="1"/>
            <a:r>
              <a:rPr lang="ru-RU" dirty="0"/>
              <a:t>В следующем семестре мы кратко обсудим некоторые другие типы программируемого оборудования.</a:t>
            </a:r>
          </a:p>
          <a:p>
            <a:pPr lvl="1"/>
            <a:r>
              <a:rPr lang="ru-RU" dirty="0"/>
              <a:t>Всё, что называется «компьютером», имеет внутри [как минимум один] процессор фон Неймана.</a:t>
            </a:r>
          </a:p>
          <a:p>
            <a:pPr lvl="1"/>
            <a:r>
              <a:rPr lang="ru-RU" dirty="0"/>
              <a:t>Многие современные устройства, которые вы не называете «компьютером», также имеют внутри процессоры фон Неймана.</a:t>
            </a:r>
          </a:p>
        </p:txBody>
      </p:sp>
    </p:spTree>
    <p:extLst>
      <p:ext uri="{BB962C8B-B14F-4D97-AF65-F5344CB8AC3E}">
        <p14:creationId xmlns:p14="http://schemas.microsoft.com/office/powerpoint/2010/main" val="22475934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7C207BF-CF58-2944-9A8E-A72B9DAE0AF8}"/>
              </a:ext>
            </a:extLst>
          </p:cNvPr>
          <p:cNvSpPr>
            <a:spLocks noGrp="1"/>
          </p:cNvSpPr>
          <p:nvPr>
            <p:ph type="title"/>
          </p:nvPr>
        </p:nvSpPr>
        <p:spPr/>
        <p:txBody>
          <a:bodyPr>
            <a:normAutofit/>
          </a:bodyPr>
          <a:lstStyle/>
          <a:p>
            <a:r>
              <a:rPr lang="en-US" dirty="0"/>
              <a:t>More on von Neumann computers</a:t>
            </a:r>
            <a:endParaRPr lang="ru-RU" dirty="0"/>
          </a:p>
        </p:txBody>
      </p:sp>
      <p:sp>
        <p:nvSpPr>
          <p:cNvPr id="3" name="Объект 2">
            <a:extLst>
              <a:ext uri="{FF2B5EF4-FFF2-40B4-BE49-F238E27FC236}">
                <a16:creationId xmlns:a16="http://schemas.microsoft.com/office/drawing/2014/main" id="{DADECB16-B967-C648-9AD9-39A00CDC8207}"/>
              </a:ext>
            </a:extLst>
          </p:cNvPr>
          <p:cNvSpPr>
            <a:spLocks noGrp="1"/>
          </p:cNvSpPr>
          <p:nvPr>
            <p:ph idx="1"/>
          </p:nvPr>
        </p:nvSpPr>
        <p:spPr/>
        <p:txBody>
          <a:bodyPr>
            <a:normAutofit lnSpcReduction="10000"/>
          </a:bodyPr>
          <a:lstStyle/>
          <a:p>
            <a:r>
              <a:rPr lang="ru-RU" dirty="0"/>
              <a:t>Компьютер фон Неймана интерпретирует значения в памяти как команды (инструкции).</a:t>
            </a:r>
          </a:p>
          <a:p>
            <a:r>
              <a:rPr lang="ru-RU" dirty="0"/>
              <a:t>Значения в памяти — это числа.</a:t>
            </a:r>
            <a:endParaRPr lang="en-US" dirty="0"/>
          </a:p>
          <a:p>
            <a:pPr lvl="1"/>
            <a:r>
              <a:rPr lang="ru-RU" dirty="0"/>
              <a:t>В двоичных компьютерах их можно рассматривать как строки битов (отсюда термин «двоичный код»).</a:t>
            </a:r>
          </a:p>
          <a:p>
            <a:pPr lvl="1"/>
            <a:r>
              <a:rPr lang="ru-RU" dirty="0"/>
              <a:t>Но некоторые компьютеры фон Неймана не были двоичными.</a:t>
            </a:r>
          </a:p>
          <a:p>
            <a:pPr lvl="1"/>
            <a:r>
              <a:rPr lang="ru-RU" dirty="0"/>
              <a:t>Например, ENIAC был десятичным.</a:t>
            </a:r>
            <a:endParaRPr lang="en-US" dirty="0"/>
          </a:p>
          <a:p>
            <a:pPr lvl="1"/>
            <a:endParaRPr lang="en-US" dirty="0"/>
          </a:p>
        </p:txBody>
      </p:sp>
    </p:spTree>
    <p:extLst>
      <p:ext uri="{BB962C8B-B14F-4D97-AF65-F5344CB8AC3E}">
        <p14:creationId xmlns:p14="http://schemas.microsoft.com/office/powerpoint/2010/main" val="3695272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D7F7C3-12CB-6643-976C-AE23A7E79A03}"/>
              </a:ext>
            </a:extLst>
          </p:cNvPr>
          <p:cNvSpPr>
            <a:spLocks noGrp="1"/>
          </p:cNvSpPr>
          <p:nvPr>
            <p:ph type="title"/>
          </p:nvPr>
        </p:nvSpPr>
        <p:spPr/>
        <p:txBody>
          <a:bodyPr/>
          <a:lstStyle/>
          <a:p>
            <a:r>
              <a:rPr lang="en-US" dirty="0"/>
              <a:t>Why random access is important</a:t>
            </a:r>
            <a:endParaRPr lang="ru-RU" dirty="0"/>
          </a:p>
        </p:txBody>
      </p:sp>
      <p:sp>
        <p:nvSpPr>
          <p:cNvPr id="3" name="Объект 2">
            <a:extLst>
              <a:ext uri="{FF2B5EF4-FFF2-40B4-BE49-F238E27FC236}">
                <a16:creationId xmlns:a16="http://schemas.microsoft.com/office/drawing/2014/main" id="{991770DB-493B-984E-BE14-2D748FDBA71D}"/>
              </a:ext>
            </a:extLst>
          </p:cNvPr>
          <p:cNvSpPr>
            <a:spLocks noGrp="1"/>
          </p:cNvSpPr>
          <p:nvPr>
            <p:ph idx="1"/>
          </p:nvPr>
        </p:nvSpPr>
        <p:spPr/>
        <p:txBody>
          <a:bodyPr>
            <a:normAutofit fontScale="77500" lnSpcReduction="20000"/>
          </a:bodyPr>
          <a:lstStyle/>
          <a:p>
            <a:r>
              <a:rPr lang="ru-RU" dirty="0"/>
              <a:t>При загрузке программы в оперативную память каждая команда имеет адрес (номер ячейки памяти, где она находится).</a:t>
            </a:r>
          </a:p>
          <a:p>
            <a:r>
              <a:rPr lang="ru-RU" dirty="0"/>
              <a:t>В процессоре фон Неймана есть так называемые инструкции перехода (перехода), которые переносят выполнение на любой конкретный адрес.</a:t>
            </a:r>
          </a:p>
          <a:p>
            <a:r>
              <a:rPr lang="ru-RU" dirty="0"/>
              <a:t>Таким образом, выполнение программы не является [строго] последовательным.</a:t>
            </a:r>
          </a:p>
          <a:p>
            <a:r>
              <a:rPr lang="ru-RU" dirty="0"/>
              <a:t>Инструкции перехода используются для реализации таких конструкций, как циклы, условные операторы, вызовы подпрограмм и т. д.</a:t>
            </a:r>
          </a:p>
          <a:p>
            <a:r>
              <a:rPr lang="ru-RU" dirty="0"/>
              <a:t>Большая часть этого семестра посвящена изучению того, как это работает на самом деле.</a:t>
            </a:r>
          </a:p>
        </p:txBody>
      </p:sp>
    </p:spTree>
    <p:extLst>
      <p:ext uri="{BB962C8B-B14F-4D97-AF65-F5344CB8AC3E}">
        <p14:creationId xmlns:p14="http://schemas.microsoft.com/office/powerpoint/2010/main" val="22140828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32CBCF-9E24-C248-8D2A-1E1BED97BA44}"/>
              </a:ext>
            </a:extLst>
          </p:cNvPr>
          <p:cNvSpPr>
            <a:spLocks noGrp="1"/>
          </p:cNvSpPr>
          <p:nvPr>
            <p:ph type="title"/>
          </p:nvPr>
        </p:nvSpPr>
        <p:spPr/>
        <p:txBody>
          <a:bodyPr/>
          <a:lstStyle/>
          <a:p>
            <a:r>
              <a:rPr lang="en-US" dirty="0"/>
              <a:t>CPU commands</a:t>
            </a:r>
            <a:endParaRPr lang="ru-RU" dirty="0"/>
          </a:p>
        </p:txBody>
      </p:sp>
      <p:sp>
        <p:nvSpPr>
          <p:cNvPr id="3" name="Объект 2">
            <a:extLst>
              <a:ext uri="{FF2B5EF4-FFF2-40B4-BE49-F238E27FC236}">
                <a16:creationId xmlns:a16="http://schemas.microsoft.com/office/drawing/2014/main" id="{D9DA7AAD-55A4-0040-AD14-BF1577AAFC0E}"/>
              </a:ext>
            </a:extLst>
          </p:cNvPr>
          <p:cNvSpPr>
            <a:spLocks noGrp="1"/>
          </p:cNvSpPr>
          <p:nvPr>
            <p:ph idx="1"/>
          </p:nvPr>
        </p:nvSpPr>
        <p:spPr>
          <a:xfrm>
            <a:off x="457200" y="1600200"/>
            <a:ext cx="8229600" cy="4781128"/>
          </a:xfrm>
        </p:spPr>
        <p:txBody>
          <a:bodyPr>
            <a:noAutofit/>
          </a:bodyPr>
          <a:lstStyle/>
          <a:p>
            <a:r>
              <a:rPr lang="ru-RU" sz="2400" dirty="0"/>
              <a:t>Каждая допустимая команда имеет номер (код операции).</a:t>
            </a:r>
          </a:p>
          <a:p>
            <a:r>
              <a:rPr lang="ru-RU" sz="2400" dirty="0"/>
              <a:t>Список всех допустимых команд (вместе с описанием их семантики) известен </a:t>
            </a:r>
            <a:r>
              <a:rPr lang="ru-RU" sz="2400"/>
              <a:t>как </a:t>
            </a:r>
            <a:r>
              <a:rPr lang="ru-RU" sz="2400" b="1"/>
              <a:t>ISA(?)</a:t>
            </a:r>
            <a:r>
              <a:rPr lang="ru-RU" sz="2400"/>
              <a:t> </a:t>
            </a:r>
            <a:r>
              <a:rPr lang="ru-RU" sz="2400" dirty="0"/>
              <a:t>(</a:t>
            </a:r>
            <a:r>
              <a:rPr lang="en-US" sz="2400" i="1" dirty="0"/>
              <a:t>instruction set architecture</a:t>
            </a:r>
            <a:r>
              <a:rPr lang="ru-RU" sz="1400" b="1" i="0" dirty="0">
                <a:solidFill>
                  <a:srgbClr val="333333"/>
                </a:solidFill>
                <a:effectLst/>
                <a:latin typeface="YS Text"/>
              </a:rPr>
              <a:t>, </a:t>
            </a:r>
            <a:r>
              <a:rPr lang="ru-RU" sz="2400" dirty="0"/>
              <a:t>архитектура набора команд) или машинный язык.</a:t>
            </a:r>
          </a:p>
          <a:p>
            <a:r>
              <a:rPr lang="ru-RU" sz="2400" dirty="0"/>
              <a:t>ISA не следует путать с языком ассемблера, который относится к платформе уровня 3 в нашей классификации.</a:t>
            </a:r>
          </a:p>
          <a:p>
            <a:r>
              <a:rPr lang="ru-RU" sz="2400" dirty="0"/>
              <a:t>Программа на машинном языке — это последовательность числовых (двоичных) команд, известная как двоичный код.</a:t>
            </a:r>
          </a:p>
          <a:p>
            <a:r>
              <a:rPr lang="ru-RU" sz="2400" dirty="0"/>
              <a:t>Программа на языке ассемблера — это удобное для восприятия представление программы на машинном языке.</a:t>
            </a:r>
          </a:p>
        </p:txBody>
      </p:sp>
    </p:spTree>
    <p:extLst>
      <p:ext uri="{BB962C8B-B14F-4D97-AF65-F5344CB8AC3E}">
        <p14:creationId xmlns:p14="http://schemas.microsoft.com/office/powerpoint/2010/main" val="4010517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1246D3-6B01-4030-82D3-63003CD7A1CD}"/>
              </a:ext>
            </a:extLst>
          </p:cNvPr>
          <p:cNvSpPr>
            <a:spLocks noGrp="1"/>
          </p:cNvSpPr>
          <p:nvPr>
            <p:ph type="title"/>
          </p:nvPr>
        </p:nvSpPr>
        <p:spPr>
          <a:xfrm>
            <a:off x="457200" y="274638"/>
            <a:ext cx="8229600" cy="634082"/>
          </a:xfrm>
        </p:spPr>
        <p:txBody>
          <a:bodyPr>
            <a:normAutofit fontScale="90000"/>
          </a:bodyPr>
          <a:lstStyle/>
          <a:p>
            <a:r>
              <a:rPr lang="ru-RU" dirty="0"/>
              <a:t>Определения</a:t>
            </a:r>
          </a:p>
        </p:txBody>
      </p:sp>
      <p:sp>
        <p:nvSpPr>
          <p:cNvPr id="3" name="Объект 2">
            <a:extLst>
              <a:ext uri="{FF2B5EF4-FFF2-40B4-BE49-F238E27FC236}">
                <a16:creationId xmlns:a16="http://schemas.microsoft.com/office/drawing/2014/main" id="{8A6ED165-B11B-4134-AD46-A1F39C0D6DC1}"/>
              </a:ext>
            </a:extLst>
          </p:cNvPr>
          <p:cNvSpPr>
            <a:spLocks noGrp="1"/>
          </p:cNvSpPr>
          <p:nvPr>
            <p:ph idx="1"/>
          </p:nvPr>
        </p:nvSpPr>
        <p:spPr>
          <a:xfrm>
            <a:off x="457200" y="1340768"/>
            <a:ext cx="8229600" cy="5328591"/>
          </a:xfrm>
        </p:spPr>
        <p:txBody>
          <a:bodyPr>
            <a:noAutofit/>
          </a:bodyPr>
          <a:lstStyle/>
          <a:p>
            <a:r>
              <a:rPr lang="ru-RU" sz="2400" b="1" i="0" dirty="0">
                <a:solidFill>
                  <a:srgbClr val="333333"/>
                </a:solidFill>
                <a:effectLst/>
                <a:latin typeface="YS Text"/>
              </a:rPr>
              <a:t>Архитектура набора команд (англ. </a:t>
            </a:r>
            <a:r>
              <a:rPr lang="ru-RU" sz="2400" b="1" i="0" dirty="0" err="1">
                <a:solidFill>
                  <a:srgbClr val="333333"/>
                </a:solidFill>
                <a:effectLst/>
                <a:latin typeface="YS Text"/>
              </a:rPr>
              <a:t>instruction</a:t>
            </a:r>
            <a:r>
              <a:rPr lang="ru-RU" sz="2400" b="1" i="0" dirty="0">
                <a:solidFill>
                  <a:srgbClr val="333333"/>
                </a:solidFill>
                <a:effectLst/>
                <a:latin typeface="YS Text"/>
              </a:rPr>
              <a:t> </a:t>
            </a:r>
            <a:r>
              <a:rPr lang="ru-RU" sz="2400" b="1" i="0" dirty="0" err="1">
                <a:solidFill>
                  <a:srgbClr val="333333"/>
                </a:solidFill>
                <a:effectLst/>
                <a:latin typeface="YS Text"/>
              </a:rPr>
              <a:t>set</a:t>
            </a:r>
            <a:r>
              <a:rPr lang="ru-RU" sz="2400" b="1" i="0" dirty="0">
                <a:solidFill>
                  <a:srgbClr val="333333"/>
                </a:solidFill>
                <a:effectLst/>
                <a:latin typeface="YS Text"/>
              </a:rPr>
              <a:t> </a:t>
            </a:r>
            <a:r>
              <a:rPr lang="ru-RU" sz="2400" b="1" i="0" dirty="0" err="1">
                <a:solidFill>
                  <a:srgbClr val="333333"/>
                </a:solidFill>
                <a:effectLst/>
                <a:latin typeface="YS Text"/>
              </a:rPr>
              <a:t>architecture</a:t>
            </a:r>
            <a:r>
              <a:rPr lang="ru-RU" sz="2400" b="1" i="0" dirty="0">
                <a:solidFill>
                  <a:srgbClr val="333333"/>
                </a:solidFill>
                <a:effectLst/>
                <a:latin typeface="YS Text"/>
              </a:rPr>
              <a:t>, ISA)</a:t>
            </a:r>
            <a:r>
              <a:rPr lang="ru-RU" sz="2400" b="0" i="0" dirty="0">
                <a:solidFill>
                  <a:srgbClr val="333333"/>
                </a:solidFill>
                <a:effectLst/>
                <a:latin typeface="YS Text"/>
              </a:rPr>
              <a:t> — часть архитектуры компьютера, определяющая программируемую часть ядра микропроцессора. Это описание предопределённого набора машинных команд и видимой программисту части архитектуры процессора, необходимой для написания программы.</a:t>
            </a:r>
          </a:p>
          <a:p>
            <a:pPr>
              <a:buFontTx/>
              <a:buChar char="-"/>
            </a:pPr>
            <a:r>
              <a:rPr lang="ru-RU" sz="2400" b="0" i="0" dirty="0">
                <a:solidFill>
                  <a:srgbClr val="333333"/>
                </a:solidFill>
                <a:effectLst/>
                <a:latin typeface="YS Text"/>
              </a:rPr>
              <a:t>типы данных;</a:t>
            </a:r>
          </a:p>
          <a:p>
            <a:pPr>
              <a:buFontTx/>
              <a:buChar char="-"/>
            </a:pPr>
            <a:r>
              <a:rPr lang="ru-RU" sz="2400" b="0" i="0" dirty="0">
                <a:solidFill>
                  <a:srgbClr val="333333"/>
                </a:solidFill>
                <a:effectLst/>
                <a:latin typeface="YS Text"/>
              </a:rPr>
              <a:t>регистры;</a:t>
            </a:r>
          </a:p>
          <a:p>
            <a:pPr>
              <a:buFontTx/>
              <a:buChar char="-"/>
            </a:pPr>
            <a:r>
              <a:rPr lang="ru-RU" sz="2400" b="0" i="0" dirty="0">
                <a:solidFill>
                  <a:srgbClr val="333333"/>
                </a:solidFill>
                <a:effectLst/>
                <a:latin typeface="YS Text"/>
              </a:rPr>
              <a:t>режимы адресации;</a:t>
            </a:r>
            <a:endParaRPr lang="ru-RU" sz="2400" dirty="0">
              <a:solidFill>
                <a:srgbClr val="333333"/>
              </a:solidFill>
              <a:latin typeface="YS Text"/>
            </a:endParaRPr>
          </a:p>
          <a:p>
            <a:pPr>
              <a:buFontTx/>
              <a:buChar char="-"/>
            </a:pPr>
            <a:r>
              <a:rPr lang="ru-RU" sz="2400" b="0" i="0" dirty="0">
                <a:solidFill>
                  <a:srgbClr val="333333"/>
                </a:solidFill>
                <a:effectLst/>
                <a:latin typeface="YS Text"/>
              </a:rPr>
              <a:t>архитектуру памяти;</a:t>
            </a:r>
          </a:p>
          <a:p>
            <a:pPr>
              <a:buFontTx/>
              <a:buChar char="-"/>
            </a:pPr>
            <a:r>
              <a:rPr lang="ru-RU" sz="2400" b="0" i="0" dirty="0">
                <a:solidFill>
                  <a:srgbClr val="333333"/>
                </a:solidFill>
                <a:effectLst/>
                <a:latin typeface="YS Text"/>
              </a:rPr>
              <a:t>взаимодействие с внешними устройствами ввода/вывода;</a:t>
            </a:r>
          </a:p>
          <a:p>
            <a:pPr>
              <a:buFontTx/>
              <a:buChar char="-"/>
            </a:pPr>
            <a:r>
              <a:rPr lang="ru-RU" sz="2400" b="0" i="0" dirty="0">
                <a:solidFill>
                  <a:srgbClr val="333333"/>
                </a:solidFill>
                <a:effectLst/>
                <a:latin typeface="YS Text"/>
              </a:rPr>
              <a:t>обработчики прерываний и исключительных состояний. </a:t>
            </a:r>
            <a:endParaRPr lang="ru-RU" sz="2400" dirty="0"/>
          </a:p>
        </p:txBody>
      </p:sp>
    </p:spTree>
    <p:extLst>
      <p:ext uri="{BB962C8B-B14F-4D97-AF65-F5344CB8AC3E}">
        <p14:creationId xmlns:p14="http://schemas.microsoft.com/office/powerpoint/2010/main" val="2560807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5A2E067-ACE4-B046-9D59-C1F9C6F5A706}"/>
              </a:ext>
            </a:extLst>
          </p:cNvPr>
          <p:cNvSpPr>
            <a:spLocks noGrp="1"/>
          </p:cNvSpPr>
          <p:nvPr>
            <p:ph type="title"/>
          </p:nvPr>
        </p:nvSpPr>
        <p:spPr/>
        <p:txBody>
          <a:bodyPr/>
          <a:lstStyle/>
          <a:p>
            <a:r>
              <a:rPr lang="en-US" dirty="0"/>
              <a:t>CPU families</a:t>
            </a:r>
            <a:endParaRPr lang="ru-RU" dirty="0"/>
          </a:p>
        </p:txBody>
      </p:sp>
      <p:sp>
        <p:nvSpPr>
          <p:cNvPr id="3" name="Объект 2">
            <a:extLst>
              <a:ext uri="{FF2B5EF4-FFF2-40B4-BE49-F238E27FC236}">
                <a16:creationId xmlns:a16="http://schemas.microsoft.com/office/drawing/2014/main" id="{B02ED39D-4B14-CA4D-BA32-69BCFADDD9B5}"/>
              </a:ext>
            </a:extLst>
          </p:cNvPr>
          <p:cNvSpPr>
            <a:spLocks noGrp="1"/>
          </p:cNvSpPr>
          <p:nvPr>
            <p:ph idx="1"/>
          </p:nvPr>
        </p:nvSpPr>
        <p:spPr/>
        <p:txBody>
          <a:bodyPr>
            <a:normAutofit fontScale="62500" lnSpcReduction="20000"/>
          </a:bodyPr>
          <a:lstStyle/>
          <a:p>
            <a:r>
              <a:rPr lang="ru-RU" dirty="0"/>
              <a:t>Люди хотят запускать программы для старых процессоров на новых компьютерах.</a:t>
            </a:r>
          </a:p>
          <a:p>
            <a:r>
              <a:rPr lang="ru-RU" dirty="0"/>
              <a:t>Серия процессоров с той же или совместимой ISA.</a:t>
            </a:r>
            <a:endParaRPr lang="en-US" dirty="0"/>
          </a:p>
          <a:p>
            <a:pPr lvl="1"/>
            <a:r>
              <a:rPr lang="ru-RU" dirty="0"/>
              <a:t>Совместимость означает, что ни одна версия ISA не имеет всех тех же команд, что и старая, возможно, с добавлением некоторых новых.</a:t>
            </a:r>
            <a:endParaRPr lang="en-US" dirty="0"/>
          </a:p>
          <a:p>
            <a:r>
              <a:rPr lang="ru-RU" dirty="0"/>
              <a:t>Самая старая широко используемая ISA — это IBM System/360, впервые разработанная в 1965 году.</a:t>
            </a:r>
            <a:r>
              <a:rPr lang="en-US" dirty="0"/>
              <a:t>  </a:t>
            </a:r>
          </a:p>
          <a:p>
            <a:pPr lvl="1"/>
            <a:r>
              <a:rPr lang="ru-RU" dirty="0"/>
              <a:t>До сих пор полностью поддерживается компьютерами IBM System/z.</a:t>
            </a:r>
            <a:endParaRPr lang="en-US" dirty="0"/>
          </a:p>
          <a:p>
            <a:r>
              <a:rPr lang="ru-RU" dirty="0"/>
              <a:t>Возможно, вторая по возрасту (среди широко используемых сейчас) — это семейство 8-разрядных микроконтроллеров MCS-48, разработанное Intel в 1976 году и лицензированное другими производителями.</a:t>
            </a:r>
            <a:r>
              <a:rPr lang="en-US" dirty="0"/>
              <a:t>  </a:t>
            </a:r>
          </a:p>
          <a:p>
            <a:pPr lvl="1"/>
            <a:r>
              <a:rPr lang="ru-RU" dirty="0"/>
              <a:t>На каждой совместимой с ПК материнской плате есть схема MCS-48, обычно реализованная в составе так называемого «южного моста».</a:t>
            </a:r>
          </a:p>
        </p:txBody>
      </p:sp>
    </p:spTree>
    <p:extLst>
      <p:ext uri="{BB962C8B-B14F-4D97-AF65-F5344CB8AC3E}">
        <p14:creationId xmlns:p14="http://schemas.microsoft.com/office/powerpoint/2010/main" val="1314753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45B59E9-F494-3444-AA44-1835B052651D}"/>
              </a:ext>
            </a:extLst>
          </p:cNvPr>
          <p:cNvSpPr>
            <a:spLocks noGrp="1"/>
          </p:cNvSpPr>
          <p:nvPr>
            <p:ph type="title"/>
          </p:nvPr>
        </p:nvSpPr>
        <p:spPr/>
        <p:txBody>
          <a:bodyPr>
            <a:normAutofit/>
          </a:bodyPr>
          <a:lstStyle/>
          <a:p>
            <a:r>
              <a:rPr lang="en-US" dirty="0"/>
              <a:t>Why not study commercial ISA?</a:t>
            </a:r>
            <a:endParaRPr lang="ru-RU" dirty="0"/>
          </a:p>
        </p:txBody>
      </p:sp>
      <p:sp>
        <p:nvSpPr>
          <p:cNvPr id="3" name="Объект 2">
            <a:extLst>
              <a:ext uri="{FF2B5EF4-FFF2-40B4-BE49-F238E27FC236}">
                <a16:creationId xmlns:a16="http://schemas.microsoft.com/office/drawing/2014/main" id="{A001EDB1-8765-AE4C-91B1-D1E8968AB007}"/>
              </a:ext>
            </a:extLst>
          </p:cNvPr>
          <p:cNvSpPr>
            <a:spLocks noGrp="1"/>
          </p:cNvSpPr>
          <p:nvPr>
            <p:ph idx="1"/>
          </p:nvPr>
        </p:nvSpPr>
        <p:spPr/>
        <p:txBody>
          <a:bodyPr>
            <a:normAutofit fontScale="77500" lnSpcReduction="20000"/>
          </a:bodyPr>
          <a:lstStyle/>
          <a:p>
            <a:r>
              <a:rPr lang="en-US" dirty="0"/>
              <a:t>Well, nobody forbids you to study ARM or x86 or MCS-48/51 or Atmel AVR or </a:t>
            </a:r>
            <a:r>
              <a:rPr lang="en-US" dirty="0" err="1"/>
              <a:t>etc</a:t>
            </a:r>
            <a:endParaRPr lang="en-US" dirty="0"/>
          </a:p>
          <a:p>
            <a:pPr lvl="1"/>
            <a:r>
              <a:rPr lang="en-US" dirty="0"/>
              <a:t>On interview, I’ve heard some of you actually studied Arduino</a:t>
            </a:r>
          </a:p>
          <a:p>
            <a:r>
              <a:rPr lang="en-US" dirty="0"/>
              <a:t>But commercial ISA have long (and sometimes tragic) history and are constrained by backward compatibility</a:t>
            </a:r>
          </a:p>
          <a:p>
            <a:r>
              <a:rPr lang="en-US" dirty="0"/>
              <a:t>Many important details and even concepts of x86 or ARM cannot be understood without knowing peculiarities of 1980s hardware and intellectual fashion of that period</a:t>
            </a:r>
          </a:p>
          <a:p>
            <a:r>
              <a:rPr lang="en-US" dirty="0"/>
              <a:t>x86 is also constrained by attempts to maintain assembly-level and OS-level compatibility with 80286, 8086 and even earlier 8080/85 ISA</a:t>
            </a:r>
          </a:p>
          <a:p>
            <a:r>
              <a:rPr lang="en-US" dirty="0"/>
              <a:t>This will distract us from basic concepts we need to understand</a:t>
            </a:r>
            <a:endParaRPr lang="ru-RU" dirty="0"/>
          </a:p>
        </p:txBody>
      </p:sp>
    </p:spTree>
    <p:extLst>
      <p:ext uri="{BB962C8B-B14F-4D97-AF65-F5344CB8AC3E}">
        <p14:creationId xmlns:p14="http://schemas.microsoft.com/office/powerpoint/2010/main" val="22593080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252CFE-E92E-5C4B-842A-87A8E2ED2592}"/>
              </a:ext>
            </a:extLst>
          </p:cNvPr>
          <p:cNvSpPr>
            <a:spLocks noGrp="1"/>
          </p:cNvSpPr>
          <p:nvPr>
            <p:ph type="title"/>
          </p:nvPr>
        </p:nvSpPr>
        <p:spPr/>
        <p:txBody>
          <a:bodyPr/>
          <a:lstStyle/>
          <a:p>
            <a:r>
              <a:rPr lang="en-US" dirty="0"/>
              <a:t>Welcome CdM-8</a:t>
            </a:r>
            <a:endParaRPr lang="ru-RU" dirty="0"/>
          </a:p>
        </p:txBody>
      </p:sp>
      <p:sp>
        <p:nvSpPr>
          <p:cNvPr id="3" name="Объект 2">
            <a:extLst>
              <a:ext uri="{FF2B5EF4-FFF2-40B4-BE49-F238E27FC236}">
                <a16:creationId xmlns:a16="http://schemas.microsoft.com/office/drawing/2014/main" id="{CC80A721-363E-834F-8565-DCC7FAA7603C}"/>
              </a:ext>
            </a:extLst>
          </p:cNvPr>
          <p:cNvSpPr>
            <a:spLocks noGrp="1"/>
          </p:cNvSpPr>
          <p:nvPr>
            <p:ph idx="1"/>
          </p:nvPr>
        </p:nvSpPr>
        <p:spPr/>
        <p:txBody>
          <a:bodyPr>
            <a:normAutofit fontScale="92500" lnSpcReduction="20000"/>
          </a:bodyPr>
          <a:lstStyle/>
          <a:p>
            <a:r>
              <a:rPr lang="ru-RU" dirty="0"/>
              <a:t>CdM-8 — это 8-разрядная платформа второго уровня (процессор фон Неймана), разработанная А. Шафаренко.</a:t>
            </a:r>
          </a:p>
          <a:p>
            <a:r>
              <a:rPr lang="ru-RU" dirty="0"/>
              <a:t>Две реализации:</a:t>
            </a:r>
            <a:endParaRPr lang="en-US" dirty="0"/>
          </a:p>
          <a:p>
            <a:pPr lvl="1"/>
            <a:r>
              <a:rPr lang="ru-RU" dirty="0"/>
              <a:t>Программный эмулятор </a:t>
            </a:r>
            <a:r>
              <a:rPr lang="ru-RU" dirty="0" err="1"/>
              <a:t>cocoemu</a:t>
            </a:r>
            <a:r>
              <a:rPr lang="ru-RU" dirty="0"/>
              <a:t>, написанный на Python</a:t>
            </a:r>
            <a:endParaRPr lang="en-US" dirty="0"/>
          </a:p>
          <a:p>
            <a:pPr lvl="2"/>
            <a:r>
              <a:rPr lang="ru-RU" dirty="0"/>
              <a:t>Работает вместе с </a:t>
            </a:r>
            <a:r>
              <a:rPr lang="ru-RU" dirty="0" err="1"/>
              <a:t>Coco</a:t>
            </a:r>
            <a:r>
              <a:rPr lang="ru-RU" dirty="0"/>
              <a:t> IDE</a:t>
            </a:r>
            <a:r>
              <a:rPr lang="en-US" dirty="0"/>
              <a:t> </a:t>
            </a:r>
          </a:p>
          <a:p>
            <a:pPr lvl="1"/>
            <a:r>
              <a:rPr lang="ru-RU" dirty="0"/>
              <a:t>Файл схемы уровня вентиля (уровень 1) для </a:t>
            </a:r>
            <a:r>
              <a:rPr lang="ru-RU" dirty="0" err="1"/>
              <a:t>Logisim</a:t>
            </a:r>
            <a:endParaRPr lang="en-US" dirty="0"/>
          </a:p>
          <a:p>
            <a:pPr lvl="1"/>
            <a:r>
              <a:rPr lang="ru-RU" dirty="0"/>
              <a:t>Никакой реализации аппаратных средств на основе кремния и меди (кто-нибудь хочет стать добровольцем?)</a:t>
            </a:r>
            <a:endParaRPr lang="en-US" dirty="0"/>
          </a:p>
        </p:txBody>
      </p:sp>
    </p:spTree>
    <p:extLst>
      <p:ext uri="{BB962C8B-B14F-4D97-AF65-F5344CB8AC3E}">
        <p14:creationId xmlns:p14="http://schemas.microsoft.com/office/powerpoint/2010/main" val="19987694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5D3C57A-018A-EE43-B57B-45F766BDAFF9}"/>
              </a:ext>
            </a:extLst>
          </p:cNvPr>
          <p:cNvSpPr>
            <a:spLocks noGrp="1"/>
          </p:cNvSpPr>
          <p:nvPr>
            <p:ph type="title"/>
          </p:nvPr>
        </p:nvSpPr>
        <p:spPr/>
        <p:txBody>
          <a:bodyPr/>
          <a:lstStyle/>
          <a:p>
            <a:r>
              <a:rPr lang="en-US" dirty="0"/>
              <a:t>Why CdM-8 (an analogy)</a:t>
            </a:r>
            <a:endParaRPr lang="ru-RU" dirty="0"/>
          </a:p>
        </p:txBody>
      </p:sp>
      <p:sp>
        <p:nvSpPr>
          <p:cNvPr id="3" name="Объект 2">
            <a:extLst>
              <a:ext uri="{FF2B5EF4-FFF2-40B4-BE49-F238E27FC236}">
                <a16:creationId xmlns:a16="http://schemas.microsoft.com/office/drawing/2014/main" id="{25A1BAA9-631C-1C44-921A-3F2D8CBBFC37}"/>
              </a:ext>
            </a:extLst>
          </p:cNvPr>
          <p:cNvSpPr>
            <a:spLocks noGrp="1"/>
          </p:cNvSpPr>
          <p:nvPr>
            <p:ph idx="1"/>
          </p:nvPr>
        </p:nvSpPr>
        <p:spPr>
          <a:xfrm>
            <a:off x="611560" y="1417639"/>
            <a:ext cx="7200799" cy="787225"/>
          </a:xfrm>
        </p:spPr>
        <p:txBody>
          <a:bodyPr>
            <a:normAutofit/>
          </a:bodyPr>
          <a:lstStyle/>
          <a:p>
            <a:pPr marL="0" indent="0">
              <a:buNone/>
            </a:pPr>
            <a:r>
              <a:rPr lang="en-US" dirty="0"/>
              <a:t>Modern aircrafts are pretty complex</a:t>
            </a:r>
          </a:p>
          <a:p>
            <a:endParaRPr lang="ru-RU" dirty="0"/>
          </a:p>
        </p:txBody>
      </p:sp>
      <p:pic>
        <p:nvPicPr>
          <p:cNvPr id="4098" name="Picture 2" descr="https://qph.fs.quoracdn.net/main-qimg-3338f58c50ac14c276b88e94518c4d8b-c">
            <a:extLst>
              <a:ext uri="{FF2B5EF4-FFF2-40B4-BE49-F238E27FC236}">
                <a16:creationId xmlns:a16="http://schemas.microsoft.com/office/drawing/2014/main" id="{E2F692AE-C107-CC43-A9FC-8A08FBB31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1977939"/>
            <a:ext cx="5594348" cy="4326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55415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7CE0E8C-E25D-5246-9D2E-7B15713FD838}"/>
              </a:ext>
            </a:extLst>
          </p:cNvPr>
          <p:cNvSpPr>
            <a:spLocks noGrp="1"/>
          </p:cNvSpPr>
          <p:nvPr>
            <p:ph type="title"/>
          </p:nvPr>
        </p:nvSpPr>
        <p:spPr/>
        <p:txBody>
          <a:bodyPr>
            <a:normAutofit fontScale="90000"/>
          </a:bodyPr>
          <a:lstStyle/>
          <a:p>
            <a:r>
              <a:rPr lang="en-US" dirty="0"/>
              <a:t>So let’s start from something simpler</a:t>
            </a:r>
            <a:endParaRPr lang="ru-RU" dirty="0"/>
          </a:p>
        </p:txBody>
      </p:sp>
      <p:pic>
        <p:nvPicPr>
          <p:cNvPr id="5122" name="Picture 2" descr="http://en.people.cn/NMediaFile/2016/0316/FOREIGN201603161702000517611418400.jpg">
            <a:extLst>
              <a:ext uri="{FF2B5EF4-FFF2-40B4-BE49-F238E27FC236}">
                <a16:creationId xmlns:a16="http://schemas.microsoft.com/office/drawing/2014/main" id="{F725B854-CEC2-F249-9D7F-672AEC40540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03685" y="1417638"/>
            <a:ext cx="7196707" cy="4797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8899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448C24-782D-814A-A749-59A4DD4218BC}"/>
              </a:ext>
            </a:extLst>
          </p:cNvPr>
          <p:cNvSpPr>
            <a:spLocks noGrp="1"/>
          </p:cNvSpPr>
          <p:nvPr>
            <p:ph type="title"/>
          </p:nvPr>
        </p:nvSpPr>
        <p:spPr/>
        <p:txBody>
          <a:bodyPr>
            <a:normAutofit/>
          </a:bodyPr>
          <a:lstStyle/>
          <a:p>
            <a:r>
              <a:rPr lang="en-US" dirty="0"/>
              <a:t>Why it is good idea</a:t>
            </a:r>
            <a:endParaRPr lang="ru-RU" dirty="0"/>
          </a:p>
        </p:txBody>
      </p:sp>
      <p:sp>
        <p:nvSpPr>
          <p:cNvPr id="3" name="Объект 2">
            <a:extLst>
              <a:ext uri="{FF2B5EF4-FFF2-40B4-BE49-F238E27FC236}">
                <a16:creationId xmlns:a16="http://schemas.microsoft.com/office/drawing/2014/main" id="{217872FE-2364-5A47-B0AA-F4C8C9BA8EF3}"/>
              </a:ext>
            </a:extLst>
          </p:cNvPr>
          <p:cNvSpPr>
            <a:spLocks noGrp="1"/>
          </p:cNvSpPr>
          <p:nvPr>
            <p:ph idx="1"/>
          </p:nvPr>
        </p:nvSpPr>
        <p:spPr/>
        <p:txBody>
          <a:bodyPr>
            <a:normAutofit fontScale="85000" lnSpcReduction="20000"/>
          </a:bodyPr>
          <a:lstStyle/>
          <a:p>
            <a:r>
              <a:rPr lang="ru-RU" dirty="0"/>
              <a:t>Он может летать.</a:t>
            </a:r>
          </a:p>
          <a:p>
            <a:r>
              <a:rPr lang="ru-RU" dirty="0"/>
              <a:t>Летать на нём весело.</a:t>
            </a:r>
          </a:p>
          <a:p>
            <a:r>
              <a:rPr lang="ru-RU" dirty="0"/>
              <a:t>Его можно разобрать на палки и детали, а затем собрать обратно (и это тоже весело).</a:t>
            </a:r>
          </a:p>
          <a:p>
            <a:r>
              <a:rPr lang="ru-RU" dirty="0"/>
              <a:t>Он может проиллюстрировать базовые понятия, такие как подъёмная сила и сопротивление.</a:t>
            </a:r>
          </a:p>
          <a:p>
            <a:r>
              <a:rPr lang="ru-RU" dirty="0"/>
              <a:t>Он может проиллюстрировать некоторые не столь базовые понятия, такие как устойчивость, контроль веса и выход из сваливания.</a:t>
            </a:r>
          </a:p>
          <a:p>
            <a:r>
              <a:rPr lang="ru-RU" dirty="0"/>
              <a:t>Как только вы разберётесь с основами, мы можем перейти к чему-то более сложному.</a:t>
            </a:r>
            <a:endParaRPr lang="en-US" dirty="0"/>
          </a:p>
          <a:p>
            <a:endParaRPr lang="ru-RU" dirty="0"/>
          </a:p>
        </p:txBody>
      </p:sp>
    </p:spTree>
    <p:extLst>
      <p:ext uri="{BB962C8B-B14F-4D97-AF65-F5344CB8AC3E}">
        <p14:creationId xmlns:p14="http://schemas.microsoft.com/office/powerpoint/2010/main" val="38814793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1EFD80F-3775-C64F-BDDD-FCE5121C92BA}"/>
              </a:ext>
            </a:extLst>
          </p:cNvPr>
          <p:cNvSpPr>
            <a:spLocks noGrp="1"/>
          </p:cNvSpPr>
          <p:nvPr>
            <p:ph type="title"/>
          </p:nvPr>
        </p:nvSpPr>
        <p:spPr/>
        <p:txBody>
          <a:bodyPr/>
          <a:lstStyle/>
          <a:p>
            <a:r>
              <a:rPr lang="en-US" dirty="0"/>
              <a:t>Advantages of CdM-8</a:t>
            </a:r>
            <a:endParaRPr lang="ru-RU" dirty="0"/>
          </a:p>
        </p:txBody>
      </p:sp>
      <p:sp>
        <p:nvSpPr>
          <p:cNvPr id="3" name="Объект 2">
            <a:extLst>
              <a:ext uri="{FF2B5EF4-FFF2-40B4-BE49-F238E27FC236}">
                <a16:creationId xmlns:a16="http://schemas.microsoft.com/office/drawing/2014/main" id="{CD2735A9-D62F-424D-BB62-779ACED4C79D}"/>
              </a:ext>
            </a:extLst>
          </p:cNvPr>
          <p:cNvSpPr>
            <a:spLocks noGrp="1"/>
          </p:cNvSpPr>
          <p:nvPr>
            <p:ph idx="1"/>
          </p:nvPr>
        </p:nvSpPr>
        <p:spPr/>
        <p:txBody>
          <a:bodyPr>
            <a:normAutofit fontScale="70000" lnSpcReduction="20000"/>
          </a:bodyPr>
          <a:lstStyle/>
          <a:p>
            <a:r>
              <a:rPr lang="ru-RU" dirty="0"/>
              <a:t>Очень простая конструкция, хорошо подходит для иллюстрации концепций уровней 2/3 и 0/1.</a:t>
            </a:r>
          </a:p>
          <a:p>
            <a:r>
              <a:rPr lang="ru-RU" dirty="0"/>
              <a:t>Отсутствие проблем с обратной совместимостью и связанной с этим сложности.</a:t>
            </a:r>
          </a:p>
          <a:p>
            <a:r>
              <a:rPr lang="ru-RU" dirty="0"/>
              <a:t>Полная функциональность (для ЦП с общим объёмом памяти 256 байт).</a:t>
            </a:r>
          </a:p>
          <a:p>
            <a:r>
              <a:rPr lang="ru-RU" dirty="0"/>
              <a:t>Продвинутый макроассемблер с некоторыми возможностями платформ уровня 4 (отсюда название Level 3 ½).</a:t>
            </a:r>
          </a:p>
          <a:p>
            <a:r>
              <a:rPr lang="ru-RU" dirty="0"/>
              <a:t>Удобная IDE с возможностью просмотра всей памяти программ и данных в одном окне (что невозможно даже на 16-разрядном ЦП!).</a:t>
            </a:r>
          </a:p>
          <a:p>
            <a:r>
              <a:rPr lang="ru-RU" dirty="0"/>
              <a:t>Расширенная версия с прерываниями, банками памяти и системным/пользовательским режимом.</a:t>
            </a:r>
          </a:p>
          <a:p>
            <a:r>
              <a:rPr lang="ru-RU" dirty="0"/>
              <a:t>Возможность расширения конструкции с помощью схем </a:t>
            </a:r>
            <a:r>
              <a:rPr lang="ru-RU" dirty="0" err="1"/>
              <a:t>Logisim</a:t>
            </a:r>
            <a:r>
              <a:rPr lang="ru-RU" dirty="0"/>
              <a:t>.</a:t>
            </a:r>
          </a:p>
        </p:txBody>
      </p:sp>
    </p:spTree>
    <p:extLst>
      <p:ext uri="{BB962C8B-B14F-4D97-AF65-F5344CB8AC3E}">
        <p14:creationId xmlns:p14="http://schemas.microsoft.com/office/powerpoint/2010/main" val="38703891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5C7EB6-4039-F343-B257-408F666F8812}"/>
              </a:ext>
            </a:extLst>
          </p:cNvPr>
          <p:cNvSpPr>
            <a:spLocks noGrp="1"/>
          </p:cNvSpPr>
          <p:nvPr>
            <p:ph type="title"/>
          </p:nvPr>
        </p:nvSpPr>
        <p:spPr/>
        <p:txBody>
          <a:bodyPr/>
          <a:lstStyle/>
          <a:p>
            <a:r>
              <a:rPr lang="en-US" dirty="0"/>
              <a:t>Two types of von Neumann CPU</a:t>
            </a:r>
            <a:endParaRPr lang="ru-RU" dirty="0"/>
          </a:p>
        </p:txBody>
      </p:sp>
      <p:sp>
        <p:nvSpPr>
          <p:cNvPr id="3" name="Объект 2">
            <a:extLst>
              <a:ext uri="{FF2B5EF4-FFF2-40B4-BE49-F238E27FC236}">
                <a16:creationId xmlns:a16="http://schemas.microsoft.com/office/drawing/2014/main" id="{3FD85DBD-1DEB-E742-9BD4-0A661CD95A65}"/>
              </a:ext>
            </a:extLst>
          </p:cNvPr>
          <p:cNvSpPr>
            <a:spLocks noGrp="1"/>
          </p:cNvSpPr>
          <p:nvPr>
            <p:ph idx="1"/>
          </p:nvPr>
        </p:nvSpPr>
        <p:spPr/>
        <p:txBody>
          <a:bodyPr>
            <a:normAutofit fontScale="70000" lnSpcReduction="20000"/>
          </a:bodyPr>
          <a:lstStyle/>
          <a:p>
            <a:r>
              <a:rPr lang="ru-RU" dirty="0"/>
              <a:t>Архитектура Манчестера (для «Манчестер Бэби»)</a:t>
            </a:r>
            <a:endParaRPr lang="en-US" dirty="0"/>
          </a:p>
          <a:p>
            <a:pPr lvl="1"/>
            <a:r>
              <a:rPr lang="ru-RU" dirty="0"/>
              <a:t>Хранит программу и данные в одной памяти.</a:t>
            </a:r>
          </a:p>
          <a:p>
            <a:pPr lvl="1"/>
            <a:r>
              <a:rPr lang="ru-RU" dirty="0"/>
              <a:t>В некоторых учебниках только манчестерские компьютеры называются компьютерами фон Неймана.</a:t>
            </a:r>
            <a:endParaRPr lang="en-US" dirty="0"/>
          </a:p>
          <a:p>
            <a:r>
              <a:rPr lang="ru-RU" dirty="0"/>
              <a:t>Архитектура Гарварда</a:t>
            </a:r>
            <a:endParaRPr lang="en-US" dirty="0"/>
          </a:p>
          <a:p>
            <a:pPr lvl="1"/>
            <a:r>
              <a:rPr lang="ru-RU" dirty="0"/>
              <a:t>Использует отдельные блоки памяти для программ и данных.</a:t>
            </a:r>
          </a:p>
          <a:p>
            <a:r>
              <a:rPr lang="ru-RU" dirty="0"/>
              <a:t>Некоторые процессоры можно переключить с Гарварда на Манчестер с помощью одного предохранителя или просто </a:t>
            </a:r>
            <a:r>
              <a:rPr lang="ru-RU" dirty="0" err="1"/>
              <a:t>переподключив</a:t>
            </a:r>
            <a:r>
              <a:rPr lang="ru-RU" dirty="0"/>
              <a:t> блоки памяти.</a:t>
            </a:r>
          </a:p>
          <a:p>
            <a:r>
              <a:rPr lang="ru-RU" dirty="0"/>
              <a:t>В некоторых учебниках и документах используются другие определения.</a:t>
            </a:r>
            <a:endParaRPr lang="en-US" dirty="0"/>
          </a:p>
          <a:p>
            <a:pPr lvl="1"/>
            <a:r>
              <a:rPr lang="ru-RU" dirty="0"/>
              <a:t>Например, некоторые процессоры используют отдельные </a:t>
            </a:r>
            <a:r>
              <a:rPr lang="ru-RU" b="1" dirty="0"/>
              <a:t>кэши (?)</a:t>
            </a:r>
            <a:r>
              <a:rPr lang="ru-RU" dirty="0"/>
              <a:t> для кода и данных, и это называется Гарвардской архитектурой, даже если эти кэши поддерживаются одной и той же основной памятью. </a:t>
            </a:r>
            <a:r>
              <a:rPr lang="en-US" dirty="0"/>
              <a:t>  </a:t>
            </a:r>
          </a:p>
          <a:p>
            <a:pPr lvl="1"/>
            <a:endParaRPr lang="en-US" dirty="0"/>
          </a:p>
        </p:txBody>
      </p:sp>
    </p:spTree>
    <p:extLst>
      <p:ext uri="{BB962C8B-B14F-4D97-AF65-F5344CB8AC3E}">
        <p14:creationId xmlns:p14="http://schemas.microsoft.com/office/powerpoint/2010/main" val="15958993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84A909-B52C-48E0-9D8A-B61CAAB81975}"/>
              </a:ext>
            </a:extLst>
          </p:cNvPr>
          <p:cNvSpPr>
            <a:spLocks noGrp="1"/>
          </p:cNvSpPr>
          <p:nvPr>
            <p:ph type="title"/>
          </p:nvPr>
        </p:nvSpPr>
        <p:spPr/>
        <p:txBody>
          <a:bodyPr/>
          <a:lstStyle/>
          <a:p>
            <a:r>
              <a:rPr lang="ru-RU" dirty="0"/>
              <a:t>Определение</a:t>
            </a:r>
          </a:p>
        </p:txBody>
      </p:sp>
      <p:sp>
        <p:nvSpPr>
          <p:cNvPr id="3" name="Объект 2">
            <a:extLst>
              <a:ext uri="{FF2B5EF4-FFF2-40B4-BE49-F238E27FC236}">
                <a16:creationId xmlns:a16="http://schemas.microsoft.com/office/drawing/2014/main" id="{DCD5F245-D6E7-4309-8D37-60280CCDA681}"/>
              </a:ext>
            </a:extLst>
          </p:cNvPr>
          <p:cNvSpPr>
            <a:spLocks noGrp="1"/>
          </p:cNvSpPr>
          <p:nvPr>
            <p:ph idx="1"/>
          </p:nvPr>
        </p:nvSpPr>
        <p:spPr/>
        <p:txBody>
          <a:bodyPr>
            <a:normAutofit fontScale="92500" lnSpcReduction="10000"/>
          </a:bodyPr>
          <a:lstStyle/>
          <a:p>
            <a:r>
              <a:rPr lang="ru-RU" b="1" i="0" dirty="0">
                <a:solidFill>
                  <a:srgbClr val="333333"/>
                </a:solidFill>
                <a:effectLst/>
                <a:latin typeface="YS Text"/>
              </a:rPr>
              <a:t>Кэш-память</a:t>
            </a:r>
            <a:r>
              <a:rPr lang="ru-RU" b="0" i="0" dirty="0">
                <a:solidFill>
                  <a:srgbClr val="333333"/>
                </a:solidFill>
                <a:effectLst/>
                <a:latin typeface="YS Text"/>
              </a:rPr>
              <a:t> </a:t>
            </a:r>
            <a:r>
              <a:rPr lang="ru-RU" i="0" dirty="0">
                <a:solidFill>
                  <a:srgbClr val="333333"/>
                </a:solidFill>
                <a:effectLst/>
                <a:latin typeface="YS Text"/>
              </a:rPr>
              <a:t>(от англ. </a:t>
            </a:r>
            <a:r>
              <a:rPr lang="ru-RU" i="1" dirty="0" err="1">
                <a:solidFill>
                  <a:srgbClr val="333333"/>
                </a:solidFill>
                <a:effectLst/>
                <a:latin typeface="YS Text"/>
              </a:rPr>
              <a:t>cache</a:t>
            </a:r>
            <a:r>
              <a:rPr lang="ru-RU" i="0" dirty="0">
                <a:solidFill>
                  <a:srgbClr val="333333"/>
                </a:solidFill>
                <a:effectLst/>
                <a:latin typeface="YS Text"/>
              </a:rPr>
              <a:t> — «скрытый запас») — временное хранилище программы или устройства, в котором хранятся используемые данные для быстрого доступа к ним.</a:t>
            </a:r>
          </a:p>
          <a:p>
            <a:pPr>
              <a:buFontTx/>
              <a:buChar char="-"/>
            </a:pPr>
            <a:r>
              <a:rPr lang="ru-RU" b="0" i="0" dirty="0">
                <a:solidFill>
                  <a:srgbClr val="333333"/>
                </a:solidFill>
                <a:effectLst/>
                <a:latin typeface="YS Text"/>
              </a:rPr>
              <a:t>сократить время загрузки данных и снизить задержку при обращении к ресурсам;</a:t>
            </a:r>
          </a:p>
          <a:p>
            <a:pPr>
              <a:buFontTx/>
              <a:buChar char="-"/>
            </a:pPr>
            <a:r>
              <a:rPr lang="ru-RU" b="0" i="0" dirty="0">
                <a:solidFill>
                  <a:srgbClr val="333333"/>
                </a:solidFill>
                <a:effectLst/>
                <a:latin typeface="YS Text"/>
              </a:rPr>
              <a:t>снизить нагрузку на основное хранилище;</a:t>
            </a:r>
          </a:p>
          <a:p>
            <a:pPr>
              <a:buFontTx/>
              <a:buChar char="-"/>
            </a:pPr>
            <a:r>
              <a:rPr lang="ru-RU" b="0" i="0" dirty="0">
                <a:solidFill>
                  <a:srgbClr val="333333"/>
                </a:solidFill>
                <a:effectLst/>
                <a:latin typeface="YS Text"/>
              </a:rPr>
              <a:t>дать системе возможность выполнять больше действий одновременно.</a:t>
            </a:r>
          </a:p>
          <a:p>
            <a:pPr>
              <a:buFontTx/>
              <a:buChar char="-"/>
            </a:pPr>
            <a:endParaRPr lang="ru-RU" b="0" i="0" dirty="0">
              <a:solidFill>
                <a:srgbClr val="333333"/>
              </a:solidFill>
              <a:effectLst/>
              <a:latin typeface="YS Text"/>
            </a:endParaRPr>
          </a:p>
          <a:p>
            <a:pPr>
              <a:buFontTx/>
              <a:buChar char="-"/>
            </a:pPr>
            <a:endParaRPr lang="ru-RU" b="0" i="0" dirty="0">
              <a:solidFill>
                <a:srgbClr val="333333"/>
              </a:solidFill>
              <a:effectLst/>
              <a:latin typeface="YS Text"/>
            </a:endParaRPr>
          </a:p>
          <a:p>
            <a:pPr marL="0" indent="0">
              <a:buNone/>
            </a:pPr>
            <a:endParaRPr lang="ru-RU" dirty="0"/>
          </a:p>
        </p:txBody>
      </p:sp>
    </p:spTree>
    <p:extLst>
      <p:ext uri="{BB962C8B-B14F-4D97-AF65-F5344CB8AC3E}">
        <p14:creationId xmlns:p14="http://schemas.microsoft.com/office/powerpoint/2010/main" val="3443994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FD214F-1398-084C-A1E7-99D9735B6726}"/>
              </a:ext>
            </a:extLst>
          </p:cNvPr>
          <p:cNvSpPr>
            <a:spLocks noGrp="1"/>
          </p:cNvSpPr>
          <p:nvPr>
            <p:ph type="title"/>
          </p:nvPr>
        </p:nvSpPr>
        <p:spPr/>
        <p:txBody>
          <a:bodyPr/>
          <a:lstStyle/>
          <a:p>
            <a:r>
              <a:rPr lang="en-US" dirty="0"/>
              <a:t>Course materials</a:t>
            </a:r>
            <a:endParaRPr lang="ru-RU" dirty="0"/>
          </a:p>
        </p:txBody>
      </p:sp>
      <p:sp>
        <p:nvSpPr>
          <p:cNvPr id="3" name="Объект 2">
            <a:extLst>
              <a:ext uri="{FF2B5EF4-FFF2-40B4-BE49-F238E27FC236}">
                <a16:creationId xmlns:a16="http://schemas.microsoft.com/office/drawing/2014/main" id="{C517079D-461C-3D4B-9484-075AE6DA6CC9}"/>
              </a:ext>
            </a:extLst>
          </p:cNvPr>
          <p:cNvSpPr>
            <a:spLocks noGrp="1"/>
          </p:cNvSpPr>
          <p:nvPr>
            <p:ph idx="1"/>
          </p:nvPr>
        </p:nvSpPr>
        <p:spPr/>
        <p:txBody>
          <a:bodyPr>
            <a:normAutofit fontScale="77500" lnSpcReduction="20000"/>
          </a:bodyPr>
          <a:lstStyle/>
          <a:p>
            <a:pPr marL="0" indent="0">
              <a:buNone/>
            </a:pPr>
            <a:r>
              <a:rPr lang="ru-RU" dirty="0"/>
              <a:t>Книга – </a:t>
            </a:r>
            <a:r>
              <a:rPr lang="en-US" dirty="0">
                <a:solidFill>
                  <a:srgbClr val="0070C0"/>
                </a:solidFill>
              </a:rPr>
              <a:t>Tome</a:t>
            </a:r>
            <a:r>
              <a:rPr lang="ru-RU" dirty="0">
                <a:solidFill>
                  <a:srgbClr val="0070C0"/>
                </a:solidFill>
              </a:rPr>
              <a:t> (См. </a:t>
            </a:r>
            <a:r>
              <a:rPr lang="en-US" dirty="0">
                <a:solidFill>
                  <a:srgbClr val="0070C0"/>
                </a:solidFill>
              </a:rPr>
              <a:t>Google-class)</a:t>
            </a:r>
          </a:p>
          <a:p>
            <a:r>
              <a:rPr lang="ru-RU" dirty="0"/>
              <a:t>Краткая документация по CdM-8 ISA и длинная книга, содержащая полное описание платформы CdM-8 и набора инструментов, а также другую полезную и интересную информацию. </a:t>
            </a:r>
            <a:endParaRPr lang="en-US" dirty="0"/>
          </a:p>
          <a:p>
            <a:r>
              <a:rPr lang="ru-RU" dirty="0"/>
              <a:t>Для запуска инструментов </a:t>
            </a:r>
            <a:r>
              <a:rPr lang="en-US" dirty="0"/>
              <a:t>CdM-8 (</a:t>
            </a:r>
            <a:r>
              <a:rPr lang="en-US" dirty="0" err="1"/>
              <a:t>cocoide</a:t>
            </a:r>
            <a:r>
              <a:rPr lang="en-US" dirty="0"/>
              <a:t>, cocas, </a:t>
            </a:r>
            <a:r>
              <a:rPr lang="en-US" dirty="0" err="1"/>
              <a:t>cocoemu</a:t>
            </a:r>
            <a:r>
              <a:rPr lang="en-US" dirty="0"/>
              <a:t>) </a:t>
            </a:r>
            <a:r>
              <a:rPr lang="ru-RU" dirty="0"/>
              <a:t>вам потребуется </a:t>
            </a:r>
            <a:r>
              <a:rPr lang="en-US" dirty="0"/>
              <a:t>Python 2 (</a:t>
            </a:r>
            <a:r>
              <a:rPr lang="ru-RU" dirty="0"/>
              <a:t>рекомендуется 2.6 или 2.7). </a:t>
            </a:r>
            <a:r>
              <a:rPr lang="en-US" dirty="0" err="1"/>
              <a:t>Cocoide</a:t>
            </a:r>
            <a:r>
              <a:rPr lang="en-US" dirty="0"/>
              <a:t> </a:t>
            </a:r>
            <a:r>
              <a:rPr lang="ru-RU" dirty="0"/>
              <a:t>использует библиотеку </a:t>
            </a:r>
            <a:r>
              <a:rPr lang="en-US" dirty="0" err="1"/>
              <a:t>tkinter</a:t>
            </a:r>
            <a:r>
              <a:rPr lang="en-US" dirty="0"/>
              <a:t> (</a:t>
            </a:r>
            <a:r>
              <a:rPr lang="ru-RU" dirty="0"/>
              <a:t>установлена ​​по умолчанию в </a:t>
            </a:r>
            <a:r>
              <a:rPr lang="en-US" dirty="0"/>
              <a:t>Windows </a:t>
            </a:r>
            <a:r>
              <a:rPr lang="ru-RU" dirty="0"/>
              <a:t>и </a:t>
            </a:r>
            <a:r>
              <a:rPr lang="en-US" dirty="0"/>
              <a:t>macOS).</a:t>
            </a:r>
          </a:p>
          <a:p>
            <a:r>
              <a:rPr lang="ru-RU" dirty="0"/>
              <a:t>Для вашего удобства в комплект входит архив </a:t>
            </a:r>
            <a:r>
              <a:rPr lang="ru-RU" dirty="0" err="1"/>
              <a:t>Logisim</a:t>
            </a:r>
            <a:r>
              <a:rPr lang="ru-RU" dirty="0"/>
              <a:t>. Вы также можете скачать его с официального сайта http://www.cburch.com/logisim/, это бесплатно.</a:t>
            </a:r>
          </a:p>
        </p:txBody>
      </p:sp>
    </p:spTree>
    <p:extLst>
      <p:ext uri="{BB962C8B-B14F-4D97-AF65-F5344CB8AC3E}">
        <p14:creationId xmlns:p14="http://schemas.microsoft.com/office/powerpoint/2010/main" val="4119986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4284372-1D87-C147-9D03-157473737ABE}"/>
              </a:ext>
            </a:extLst>
          </p:cNvPr>
          <p:cNvSpPr>
            <a:spLocks noGrp="1"/>
          </p:cNvSpPr>
          <p:nvPr>
            <p:ph type="title"/>
          </p:nvPr>
        </p:nvSpPr>
        <p:spPr/>
        <p:txBody>
          <a:bodyPr/>
          <a:lstStyle/>
          <a:p>
            <a:r>
              <a:rPr lang="en-US" dirty="0"/>
              <a:t>How we will work</a:t>
            </a:r>
            <a:endParaRPr lang="ru-RU" dirty="0"/>
          </a:p>
        </p:txBody>
      </p:sp>
      <p:sp>
        <p:nvSpPr>
          <p:cNvPr id="3" name="Объект 2">
            <a:extLst>
              <a:ext uri="{FF2B5EF4-FFF2-40B4-BE49-F238E27FC236}">
                <a16:creationId xmlns:a16="http://schemas.microsoft.com/office/drawing/2014/main" id="{7E566A7E-9B05-1A44-8615-BC17568AA11E}"/>
              </a:ext>
            </a:extLst>
          </p:cNvPr>
          <p:cNvSpPr>
            <a:spLocks noGrp="1"/>
          </p:cNvSpPr>
          <p:nvPr>
            <p:ph idx="1"/>
          </p:nvPr>
        </p:nvSpPr>
        <p:spPr/>
        <p:txBody>
          <a:bodyPr>
            <a:normAutofit fontScale="85000" lnSpcReduction="10000"/>
          </a:bodyPr>
          <a:lstStyle/>
          <a:p>
            <a:r>
              <a:rPr lang="en-US" dirty="0"/>
              <a:t>Your main teaching guide is </a:t>
            </a:r>
            <a:r>
              <a:rPr lang="en-US" dirty="0" err="1"/>
              <a:t>Cocomaro</a:t>
            </a:r>
            <a:r>
              <a:rPr lang="en-US" dirty="0"/>
              <a:t> the Robot.</a:t>
            </a:r>
          </a:p>
          <a:p>
            <a:r>
              <a:rPr lang="en-US" dirty="0"/>
              <a:t>It is a mail robot which will send you emails</a:t>
            </a:r>
          </a:p>
          <a:p>
            <a:r>
              <a:rPr lang="en-US" dirty="0"/>
              <a:t>Every email will contain a task description and instructions how to submit a solution</a:t>
            </a:r>
          </a:p>
          <a:p>
            <a:r>
              <a:rPr lang="en-US" dirty="0"/>
              <a:t>After your send a correct solution for a task, </a:t>
            </a:r>
            <a:r>
              <a:rPr lang="en-US" dirty="0" err="1"/>
              <a:t>Cocomaro</a:t>
            </a:r>
            <a:r>
              <a:rPr lang="en-US" dirty="0"/>
              <a:t> will send you next one</a:t>
            </a:r>
          </a:p>
          <a:p>
            <a:r>
              <a:rPr lang="en-US" dirty="0" err="1"/>
              <a:t>Cocomaro</a:t>
            </a:r>
            <a:r>
              <a:rPr lang="en-US" dirty="0"/>
              <a:t> checks for new mail every three minutes 24/7 (if it does not, you should alert me)</a:t>
            </a:r>
          </a:p>
          <a:p>
            <a:r>
              <a:rPr lang="en-US" dirty="0"/>
              <a:t>If you have questions, you are free to ask me and other teachers, personally during practice lessons or by email</a:t>
            </a:r>
            <a:endParaRPr lang="ru-RU" dirty="0"/>
          </a:p>
        </p:txBody>
      </p:sp>
    </p:spTree>
    <p:extLst>
      <p:ext uri="{BB962C8B-B14F-4D97-AF65-F5344CB8AC3E}">
        <p14:creationId xmlns:p14="http://schemas.microsoft.com/office/powerpoint/2010/main" val="552279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3D0D171-88CD-4D42-8120-8C57E3EB42C1}"/>
              </a:ext>
            </a:extLst>
          </p:cNvPr>
          <p:cNvSpPr>
            <a:spLocks noGrp="1"/>
          </p:cNvSpPr>
          <p:nvPr>
            <p:ph type="title"/>
          </p:nvPr>
        </p:nvSpPr>
        <p:spPr/>
        <p:txBody>
          <a:bodyPr/>
          <a:lstStyle/>
          <a:p>
            <a:r>
              <a:rPr lang="en-US" dirty="0"/>
              <a:t>Course grading</a:t>
            </a:r>
            <a:endParaRPr lang="ru-RU" dirty="0"/>
          </a:p>
        </p:txBody>
      </p:sp>
      <p:sp>
        <p:nvSpPr>
          <p:cNvPr id="3" name="Объект 2">
            <a:extLst>
              <a:ext uri="{FF2B5EF4-FFF2-40B4-BE49-F238E27FC236}">
                <a16:creationId xmlns:a16="http://schemas.microsoft.com/office/drawing/2014/main" id="{F4A20EAD-1366-664D-8CD4-D114ABA2F1FC}"/>
              </a:ext>
            </a:extLst>
          </p:cNvPr>
          <p:cNvSpPr>
            <a:spLocks noGrp="1"/>
          </p:cNvSpPr>
          <p:nvPr>
            <p:ph idx="1"/>
          </p:nvPr>
        </p:nvSpPr>
        <p:spPr>
          <a:xfrm>
            <a:off x="457200" y="1639341"/>
            <a:ext cx="8229600" cy="4525963"/>
          </a:xfrm>
        </p:spPr>
        <p:txBody>
          <a:bodyPr>
            <a:normAutofit/>
          </a:bodyPr>
          <a:lstStyle/>
          <a:p>
            <a:r>
              <a:rPr lang="ru-RU" dirty="0"/>
              <a:t>По большинству практических занятий будут проводиться оценочные тесты.</a:t>
            </a:r>
            <a:endParaRPr lang="en-US" dirty="0"/>
          </a:p>
          <a:p>
            <a:r>
              <a:rPr lang="ru-RU" dirty="0"/>
              <a:t>Оценка будет включать вопросы и решение задач, аналогичных тем, что вы будите решать.</a:t>
            </a:r>
            <a:endParaRPr lang="en-US" dirty="0"/>
          </a:p>
          <a:p>
            <a:r>
              <a:rPr lang="ru-RU" dirty="0"/>
              <a:t>Вы будете решать задания в контролируемой среде, где списывание запрещено.</a:t>
            </a:r>
          </a:p>
        </p:txBody>
      </p:sp>
    </p:spTree>
    <p:extLst>
      <p:ext uri="{BB962C8B-B14F-4D97-AF65-F5344CB8AC3E}">
        <p14:creationId xmlns:p14="http://schemas.microsoft.com/office/powerpoint/2010/main" val="952153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8CD953-CA5A-DD43-99D0-0A3AB276736D}"/>
              </a:ext>
            </a:extLst>
          </p:cNvPr>
          <p:cNvSpPr>
            <a:spLocks noGrp="1"/>
          </p:cNvSpPr>
          <p:nvPr>
            <p:ph type="title"/>
          </p:nvPr>
        </p:nvSpPr>
        <p:spPr/>
        <p:txBody>
          <a:bodyPr/>
          <a:lstStyle/>
          <a:p>
            <a:r>
              <a:rPr lang="en-US" dirty="0"/>
              <a:t>Course grading</a:t>
            </a:r>
            <a:endParaRPr lang="ru-RU" dirty="0"/>
          </a:p>
        </p:txBody>
      </p:sp>
      <p:sp>
        <p:nvSpPr>
          <p:cNvPr id="3" name="Объект 2">
            <a:extLst>
              <a:ext uri="{FF2B5EF4-FFF2-40B4-BE49-F238E27FC236}">
                <a16:creationId xmlns:a16="http://schemas.microsoft.com/office/drawing/2014/main" id="{244D7848-9106-FB46-99C6-99607FA68B2F}"/>
              </a:ext>
            </a:extLst>
          </p:cNvPr>
          <p:cNvSpPr>
            <a:spLocks noGrp="1"/>
          </p:cNvSpPr>
          <p:nvPr>
            <p:ph idx="1"/>
          </p:nvPr>
        </p:nvSpPr>
        <p:spPr/>
        <p:txBody>
          <a:bodyPr>
            <a:normAutofit fontScale="70000" lnSpcReduction="20000"/>
          </a:bodyPr>
          <a:lstStyle/>
          <a:p>
            <a:r>
              <a:rPr lang="ru-RU" dirty="0"/>
              <a:t>Первый семестр оценивается по принципу «неудовлетворительно/</a:t>
            </a:r>
            <a:r>
              <a:rPr lang="ru-RU" dirty="0" err="1"/>
              <a:t>зачётно</a:t>
            </a:r>
            <a:r>
              <a:rPr lang="ru-RU" dirty="0"/>
              <a:t>».</a:t>
            </a:r>
          </a:p>
          <a:p>
            <a:r>
              <a:rPr lang="ru-RU" dirty="0"/>
              <a:t>Чтобы сдать экзамен, необходимо успешно сдать 75% всех тестов (надеюсь, это будет просто).</a:t>
            </a:r>
          </a:p>
          <a:p>
            <a:r>
              <a:rPr lang="ru-RU" dirty="0"/>
              <a:t>Второй семестр оценивается по принципу «2/3/4/5».</a:t>
            </a:r>
          </a:p>
          <a:p>
            <a:r>
              <a:rPr lang="ru-RU" dirty="0"/>
              <a:t>Вы выполняете групповой проект.</a:t>
            </a:r>
          </a:p>
          <a:p>
            <a:r>
              <a:rPr lang="ru-RU" dirty="0"/>
              <a:t>Группы формируются </a:t>
            </a:r>
            <a:r>
              <a:rPr lang="ru-RU" dirty="0" err="1"/>
              <a:t>полуслучайным</a:t>
            </a:r>
            <a:r>
              <a:rPr lang="ru-RU" dirty="0"/>
              <a:t> образом, поэтому в каждой команде будут студенты разного уровня подготовки (на основе оценочных тестов).</a:t>
            </a:r>
          </a:p>
          <a:p>
            <a:r>
              <a:rPr lang="ru-RU" dirty="0"/>
              <a:t>Результаты группового проекта являются основным компонентом итоговой оценки.</a:t>
            </a:r>
          </a:p>
          <a:p>
            <a:r>
              <a:rPr lang="ru-RU" dirty="0"/>
              <a:t>Если вы не удовлетворены результатами проекта, вы можете попытаться получить более высокую оценку, сдав экзамен.</a:t>
            </a:r>
          </a:p>
        </p:txBody>
      </p:sp>
    </p:spTree>
    <p:extLst>
      <p:ext uri="{BB962C8B-B14F-4D97-AF65-F5344CB8AC3E}">
        <p14:creationId xmlns:p14="http://schemas.microsoft.com/office/powerpoint/2010/main" val="91563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C6777C-F160-C04C-94DC-969637FC3978}"/>
              </a:ext>
            </a:extLst>
          </p:cNvPr>
          <p:cNvSpPr>
            <a:spLocks noGrp="1"/>
          </p:cNvSpPr>
          <p:nvPr>
            <p:ph type="title"/>
          </p:nvPr>
        </p:nvSpPr>
        <p:spPr/>
        <p:txBody>
          <a:bodyPr/>
          <a:lstStyle/>
          <a:p>
            <a:r>
              <a:rPr lang="en-US" dirty="0"/>
              <a:t>Some interesting facts</a:t>
            </a:r>
            <a:endParaRPr lang="ru-RU" dirty="0"/>
          </a:p>
        </p:txBody>
      </p:sp>
      <p:sp>
        <p:nvSpPr>
          <p:cNvPr id="3" name="Объект 2">
            <a:extLst>
              <a:ext uri="{FF2B5EF4-FFF2-40B4-BE49-F238E27FC236}">
                <a16:creationId xmlns:a16="http://schemas.microsoft.com/office/drawing/2014/main" id="{FE977B84-F3E7-B947-AE21-A649C61587E4}"/>
              </a:ext>
            </a:extLst>
          </p:cNvPr>
          <p:cNvSpPr>
            <a:spLocks noGrp="1"/>
          </p:cNvSpPr>
          <p:nvPr>
            <p:ph idx="1"/>
          </p:nvPr>
        </p:nvSpPr>
        <p:spPr/>
        <p:txBody>
          <a:bodyPr/>
          <a:lstStyle/>
          <a:p>
            <a:r>
              <a:rPr lang="en-US" dirty="0"/>
              <a:t>One of the first working von Neumann computers was created programmatically</a:t>
            </a:r>
          </a:p>
          <a:p>
            <a:r>
              <a:rPr lang="en-US" dirty="0"/>
              <a:t>Originally it was the first fully-electronic computer called ENIAC </a:t>
            </a:r>
          </a:p>
          <a:p>
            <a:r>
              <a:rPr lang="en-US" dirty="0"/>
              <a:t>Design started in 1943, delivered in 1945</a:t>
            </a:r>
          </a:p>
          <a:p>
            <a:r>
              <a:rPr lang="en-US" dirty="0"/>
              <a:t>Used for military research, including numerical modelling of thermonuclear explosives</a:t>
            </a:r>
          </a:p>
          <a:p>
            <a:r>
              <a:rPr lang="en-US" dirty="0"/>
              <a:t>It was programmed by so called plugboards</a:t>
            </a:r>
            <a:endParaRPr lang="ru-RU" dirty="0"/>
          </a:p>
        </p:txBody>
      </p:sp>
    </p:spTree>
    <p:extLst>
      <p:ext uri="{BB962C8B-B14F-4D97-AF65-F5344CB8AC3E}">
        <p14:creationId xmlns:p14="http://schemas.microsoft.com/office/powerpoint/2010/main" val="34935588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14C2AEE-1424-A44B-9146-63C7FAF117A4}"/>
              </a:ext>
            </a:extLst>
          </p:cNvPr>
          <p:cNvSpPr>
            <a:spLocks noGrp="1"/>
          </p:cNvSpPr>
          <p:nvPr>
            <p:ph type="title"/>
          </p:nvPr>
        </p:nvSpPr>
        <p:spPr/>
        <p:txBody>
          <a:bodyPr/>
          <a:lstStyle/>
          <a:p>
            <a:r>
              <a:rPr lang="en-US" dirty="0"/>
              <a:t>Plugboards</a:t>
            </a:r>
            <a:endParaRPr lang="ru-RU" dirty="0"/>
          </a:p>
        </p:txBody>
      </p:sp>
      <p:sp>
        <p:nvSpPr>
          <p:cNvPr id="3" name="Объект 2">
            <a:extLst>
              <a:ext uri="{FF2B5EF4-FFF2-40B4-BE49-F238E27FC236}">
                <a16:creationId xmlns:a16="http://schemas.microsoft.com/office/drawing/2014/main" id="{3DF84959-4FE2-684E-9AF8-5F1217EB4A88}"/>
              </a:ext>
            </a:extLst>
          </p:cNvPr>
          <p:cNvSpPr>
            <a:spLocks noGrp="1"/>
          </p:cNvSpPr>
          <p:nvPr>
            <p:ph idx="1"/>
          </p:nvPr>
        </p:nvSpPr>
        <p:spPr>
          <a:xfrm>
            <a:off x="457200" y="1600201"/>
            <a:ext cx="3106688" cy="4133056"/>
          </a:xfrm>
        </p:spPr>
        <p:txBody>
          <a:bodyPr>
            <a:normAutofit/>
          </a:bodyPr>
          <a:lstStyle/>
          <a:p>
            <a:r>
              <a:rPr lang="en-US" sz="3000" dirty="0"/>
              <a:t>Also known as patch panels</a:t>
            </a:r>
          </a:p>
          <a:p>
            <a:r>
              <a:rPr lang="en-US" sz="3000" dirty="0"/>
              <a:t>Used in 1930s </a:t>
            </a:r>
            <a:br>
              <a:rPr lang="en-US" sz="3000" dirty="0"/>
            </a:br>
            <a:r>
              <a:rPr lang="en-US" sz="3000" dirty="0"/>
              <a:t>to “program”</a:t>
            </a:r>
            <a:br>
              <a:rPr lang="en-US" sz="3000" dirty="0"/>
            </a:br>
            <a:r>
              <a:rPr lang="en-US" sz="3000" dirty="0"/>
              <a:t>IBM tabulators (machines for processing punch cards) </a:t>
            </a:r>
          </a:p>
          <a:p>
            <a:endParaRPr lang="ru-RU" dirty="0"/>
          </a:p>
        </p:txBody>
      </p:sp>
      <p:pic>
        <p:nvPicPr>
          <p:cNvPr id="2052" name="Picture 4" descr="https://upload.wikimedia.org/wikipedia/commons/b/b7/IBM402plugboard.Shrigley.wireside.jpg">
            <a:extLst>
              <a:ext uri="{FF2B5EF4-FFF2-40B4-BE49-F238E27FC236}">
                <a16:creationId xmlns:a16="http://schemas.microsoft.com/office/drawing/2014/main" id="{C12624C9-B857-B945-9B6A-6F550A6B3A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94960" y="1930466"/>
            <a:ext cx="4905983" cy="36807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4CF8636-4024-224E-A143-A6E278F80D8E}"/>
              </a:ext>
            </a:extLst>
          </p:cNvPr>
          <p:cNvSpPr txBox="1"/>
          <p:nvPr/>
        </p:nvSpPr>
        <p:spPr>
          <a:xfrm>
            <a:off x="1185887" y="6124059"/>
            <a:ext cx="7664470" cy="369332"/>
          </a:xfrm>
          <a:prstGeom prst="rect">
            <a:avLst/>
          </a:prstGeom>
          <a:noFill/>
        </p:spPr>
        <p:txBody>
          <a:bodyPr wrap="none" rtlCol="0">
            <a:spAutoFit/>
          </a:bodyPr>
          <a:lstStyle/>
          <a:p>
            <a:r>
              <a:rPr lang="en-US" dirty="0"/>
              <a:t>Image CC BY 2.5, https://</a:t>
            </a:r>
            <a:r>
              <a:rPr lang="en-US" dirty="0" err="1"/>
              <a:t>commons.wikimedia.org</a:t>
            </a:r>
            <a:r>
              <a:rPr lang="en-US" dirty="0"/>
              <a:t>/w/</a:t>
            </a:r>
            <a:r>
              <a:rPr lang="en-US" dirty="0" err="1"/>
              <a:t>index.php?curid</a:t>
            </a:r>
            <a:r>
              <a:rPr lang="en-US" dirty="0"/>
              <a:t>=522789</a:t>
            </a:r>
            <a:endParaRPr lang="ru-RU" dirty="0"/>
          </a:p>
        </p:txBody>
      </p:sp>
    </p:spTree>
    <p:extLst>
      <p:ext uri="{BB962C8B-B14F-4D97-AF65-F5344CB8AC3E}">
        <p14:creationId xmlns:p14="http://schemas.microsoft.com/office/powerpoint/2010/main" val="7512973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C97D078-5EEE-774F-9CEB-D28FBB1350D4}"/>
              </a:ext>
            </a:extLst>
          </p:cNvPr>
          <p:cNvSpPr>
            <a:spLocks noGrp="1"/>
          </p:cNvSpPr>
          <p:nvPr>
            <p:ph type="title"/>
          </p:nvPr>
        </p:nvSpPr>
        <p:spPr/>
        <p:txBody>
          <a:bodyPr/>
          <a:lstStyle/>
          <a:p>
            <a:r>
              <a:rPr lang="en-US" dirty="0"/>
              <a:t>Plugboards and tabulators</a:t>
            </a:r>
            <a:endParaRPr lang="ru-RU" dirty="0"/>
          </a:p>
        </p:txBody>
      </p:sp>
      <p:sp>
        <p:nvSpPr>
          <p:cNvPr id="3" name="Объект 2">
            <a:extLst>
              <a:ext uri="{FF2B5EF4-FFF2-40B4-BE49-F238E27FC236}">
                <a16:creationId xmlns:a16="http://schemas.microsoft.com/office/drawing/2014/main" id="{80FA3F64-21F3-A542-86C5-4530066877D2}"/>
              </a:ext>
            </a:extLst>
          </p:cNvPr>
          <p:cNvSpPr>
            <a:spLocks noGrp="1"/>
          </p:cNvSpPr>
          <p:nvPr>
            <p:ph idx="1"/>
          </p:nvPr>
        </p:nvSpPr>
        <p:spPr>
          <a:xfrm>
            <a:off x="457200" y="1600200"/>
            <a:ext cx="4402832" cy="4525963"/>
          </a:xfrm>
        </p:spPr>
        <p:txBody>
          <a:bodyPr/>
          <a:lstStyle/>
          <a:p>
            <a:pPr marL="0" indent="0">
              <a:buNone/>
            </a:pPr>
            <a:r>
              <a:rPr lang="en" dirty="0"/>
              <a:t>An </a:t>
            </a:r>
            <a:r>
              <a:rPr lang="en" dirty="0">
                <a:hlinkClick r:id="rId2" tooltip="IBM 407"/>
              </a:rPr>
              <a:t>IBM 407</a:t>
            </a:r>
            <a:r>
              <a:rPr lang="en" dirty="0"/>
              <a:t> Accounting Machine with control panel (plugboard) inserted, but not engaged.</a:t>
            </a:r>
            <a:endParaRPr lang="ru-RU" dirty="0"/>
          </a:p>
        </p:txBody>
      </p:sp>
      <p:pic>
        <p:nvPicPr>
          <p:cNvPr id="3074" name="Picture 2" descr="https://upload.wikimedia.org/wikipedia/commons/9/97/Ibm407_tabulator_1961_01.redstone.jpg">
            <a:extLst>
              <a:ext uri="{FF2B5EF4-FFF2-40B4-BE49-F238E27FC236}">
                <a16:creationId xmlns:a16="http://schemas.microsoft.com/office/drawing/2014/main" id="{0B06F55B-8189-5140-8C87-83CD53AD5B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1406040"/>
            <a:ext cx="3841338" cy="4801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960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5B0772-D761-1F44-935F-10C7F5D733AA}"/>
              </a:ext>
            </a:extLst>
          </p:cNvPr>
          <p:cNvSpPr>
            <a:spLocks noGrp="1"/>
          </p:cNvSpPr>
          <p:nvPr>
            <p:ph type="title"/>
          </p:nvPr>
        </p:nvSpPr>
        <p:spPr/>
        <p:txBody>
          <a:bodyPr/>
          <a:lstStyle/>
          <a:p>
            <a:r>
              <a:rPr lang="en-US" dirty="0"/>
              <a:t>ENIAC</a:t>
            </a:r>
            <a:endParaRPr lang="ru-RU" dirty="0"/>
          </a:p>
        </p:txBody>
      </p:sp>
      <p:pic>
        <p:nvPicPr>
          <p:cNvPr id="1026" name="Picture 2" descr="https://upload.wikimedia.org/wikipedia/commons/4/4e/Eniac.jpg">
            <a:extLst>
              <a:ext uri="{FF2B5EF4-FFF2-40B4-BE49-F238E27FC236}">
                <a16:creationId xmlns:a16="http://schemas.microsoft.com/office/drawing/2014/main" id="{26BEB425-B84E-394D-8135-B58985B55E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64154" y="1556792"/>
            <a:ext cx="5922646" cy="452596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27D947C-D25F-784F-A5E6-B42B75CC8400}"/>
              </a:ext>
            </a:extLst>
          </p:cNvPr>
          <p:cNvSpPr txBox="1"/>
          <p:nvPr/>
        </p:nvSpPr>
        <p:spPr>
          <a:xfrm>
            <a:off x="457200" y="1556792"/>
            <a:ext cx="1972848" cy="3139321"/>
          </a:xfrm>
          <a:prstGeom prst="rect">
            <a:avLst/>
          </a:prstGeom>
          <a:noFill/>
        </p:spPr>
        <p:txBody>
          <a:bodyPr wrap="none" rtlCol="0">
            <a:spAutoFit/>
          </a:bodyPr>
          <a:lstStyle/>
          <a:p>
            <a:r>
              <a:rPr lang="en-US" b="1" dirty="0"/>
              <a:t>On the left: </a:t>
            </a:r>
          </a:p>
          <a:p>
            <a:r>
              <a:rPr lang="en-US" dirty="0"/>
              <a:t>Arithmetical units</a:t>
            </a:r>
            <a:br>
              <a:rPr lang="en-US" dirty="0"/>
            </a:br>
            <a:r>
              <a:rPr lang="en-US" dirty="0"/>
              <a:t>with plugboards</a:t>
            </a:r>
          </a:p>
          <a:p>
            <a:endParaRPr lang="en-US" dirty="0"/>
          </a:p>
          <a:p>
            <a:r>
              <a:rPr lang="en-US" b="1" dirty="0"/>
              <a:t>On the right:</a:t>
            </a:r>
          </a:p>
          <a:p>
            <a:r>
              <a:rPr lang="en-US" dirty="0"/>
              <a:t>Function tables</a:t>
            </a:r>
            <a:br>
              <a:rPr lang="en-US" dirty="0"/>
            </a:br>
            <a:r>
              <a:rPr lang="en-US" dirty="0"/>
              <a:t>(sort of read-only</a:t>
            </a:r>
          </a:p>
          <a:p>
            <a:r>
              <a:rPr lang="en-US" dirty="0"/>
              <a:t>random-access</a:t>
            </a:r>
          </a:p>
          <a:p>
            <a:r>
              <a:rPr lang="en-US" dirty="0"/>
              <a:t>memory, every cell</a:t>
            </a:r>
            <a:br>
              <a:rPr lang="en-US" dirty="0"/>
            </a:br>
            <a:r>
              <a:rPr lang="en-US" dirty="0"/>
              <a:t>is a mechanical </a:t>
            </a:r>
          </a:p>
          <a:p>
            <a:r>
              <a:rPr lang="en-US" dirty="0"/>
              <a:t>10-position switch)</a:t>
            </a:r>
            <a:endParaRPr lang="ru-RU" dirty="0"/>
          </a:p>
        </p:txBody>
      </p:sp>
    </p:spTree>
    <p:extLst>
      <p:ext uri="{BB962C8B-B14F-4D97-AF65-F5344CB8AC3E}">
        <p14:creationId xmlns:p14="http://schemas.microsoft.com/office/powerpoint/2010/main" val="35482680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0117B5E-1385-D542-B7C9-9E7D209105C7}"/>
              </a:ext>
            </a:extLst>
          </p:cNvPr>
          <p:cNvSpPr>
            <a:spLocks noGrp="1"/>
          </p:cNvSpPr>
          <p:nvPr>
            <p:ph type="title"/>
          </p:nvPr>
        </p:nvSpPr>
        <p:spPr/>
        <p:txBody>
          <a:bodyPr/>
          <a:lstStyle/>
          <a:p>
            <a:r>
              <a:rPr lang="en-US" dirty="0"/>
              <a:t>ENIAC as von Neumann CPU</a:t>
            </a:r>
            <a:endParaRPr lang="ru-RU" dirty="0"/>
          </a:p>
        </p:txBody>
      </p:sp>
      <p:sp>
        <p:nvSpPr>
          <p:cNvPr id="3" name="Объект 2">
            <a:extLst>
              <a:ext uri="{FF2B5EF4-FFF2-40B4-BE49-F238E27FC236}">
                <a16:creationId xmlns:a16="http://schemas.microsoft.com/office/drawing/2014/main" id="{B2D174AF-A1E1-764D-B93A-B7195C56CBFB}"/>
              </a:ext>
            </a:extLst>
          </p:cNvPr>
          <p:cNvSpPr>
            <a:spLocks noGrp="1"/>
          </p:cNvSpPr>
          <p:nvPr>
            <p:ph idx="1"/>
          </p:nvPr>
        </p:nvSpPr>
        <p:spPr/>
        <p:txBody>
          <a:bodyPr>
            <a:normAutofit fontScale="92500" lnSpcReduction="20000"/>
          </a:bodyPr>
          <a:lstStyle/>
          <a:p>
            <a:r>
              <a:rPr lang="en-US" dirty="0"/>
              <a:t>In 1948, ENIAC was converted to a stored-program computer by creating a ”program” (plugboard wiring) to use function tables as program memory</a:t>
            </a:r>
          </a:p>
          <a:p>
            <a:r>
              <a:rPr lang="en-US" dirty="0"/>
              <a:t>Von Neumann was not inventor of this idea, but he worked as a consultant in EDVAC project and participated in ENIAC conversion</a:t>
            </a:r>
          </a:p>
          <a:p>
            <a:r>
              <a:rPr lang="en-US" dirty="0"/>
              <a:t>EDVAC was operational in 1949 and was not a true von Neumann machine</a:t>
            </a:r>
          </a:p>
          <a:p>
            <a:r>
              <a:rPr lang="en-US" dirty="0"/>
              <a:t>EDVAC used serial (not random access) program memory based on mercury delay lines</a:t>
            </a:r>
          </a:p>
        </p:txBody>
      </p:sp>
    </p:spTree>
    <p:extLst>
      <p:ext uri="{BB962C8B-B14F-4D97-AF65-F5344CB8AC3E}">
        <p14:creationId xmlns:p14="http://schemas.microsoft.com/office/powerpoint/2010/main" val="9025114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2BB5A52-1A8B-4F45-B735-4563D87A0CCE}"/>
              </a:ext>
            </a:extLst>
          </p:cNvPr>
          <p:cNvSpPr>
            <a:spLocks noGrp="1"/>
          </p:cNvSpPr>
          <p:nvPr>
            <p:ph type="title"/>
          </p:nvPr>
        </p:nvSpPr>
        <p:spPr/>
        <p:txBody>
          <a:bodyPr/>
          <a:lstStyle/>
          <a:p>
            <a:r>
              <a:rPr lang="en-US" dirty="0"/>
              <a:t>First true von Neumann computer</a:t>
            </a:r>
            <a:endParaRPr lang="ru-RU" dirty="0"/>
          </a:p>
        </p:txBody>
      </p:sp>
      <p:sp>
        <p:nvSpPr>
          <p:cNvPr id="3" name="Объект 2">
            <a:extLst>
              <a:ext uri="{FF2B5EF4-FFF2-40B4-BE49-F238E27FC236}">
                <a16:creationId xmlns:a16="http://schemas.microsoft.com/office/drawing/2014/main" id="{132FED30-B740-3D42-8CE2-E021D4DA72F7}"/>
              </a:ext>
            </a:extLst>
          </p:cNvPr>
          <p:cNvSpPr>
            <a:spLocks noGrp="1"/>
          </p:cNvSpPr>
          <p:nvPr>
            <p:ph idx="1"/>
          </p:nvPr>
        </p:nvSpPr>
        <p:spPr/>
        <p:txBody>
          <a:bodyPr>
            <a:normAutofit fontScale="85000" lnSpcReduction="20000"/>
          </a:bodyPr>
          <a:lstStyle/>
          <a:p>
            <a:r>
              <a:rPr lang="en-US" dirty="0"/>
              <a:t>“Manchester baby” or SSEM</a:t>
            </a:r>
          </a:p>
          <a:p>
            <a:r>
              <a:rPr lang="en-US" dirty="0"/>
              <a:t>Created in Victoria University of Manchester, England</a:t>
            </a:r>
          </a:p>
          <a:p>
            <a:r>
              <a:rPr lang="en-US" dirty="0"/>
              <a:t>Von Neumann had nothing to do with that project</a:t>
            </a:r>
          </a:p>
          <a:p>
            <a:r>
              <a:rPr lang="en-US" dirty="0"/>
              <a:t>Run first program 21 June 1948</a:t>
            </a:r>
            <a:br>
              <a:rPr lang="en-US" dirty="0"/>
            </a:br>
            <a:r>
              <a:rPr lang="en-US" dirty="0"/>
              <a:t>three months before converted ENIAC</a:t>
            </a:r>
          </a:p>
          <a:p>
            <a:r>
              <a:rPr lang="en-US" dirty="0"/>
              <a:t>Had random-access memory based on so-called Williams tube (read Wikipedia...)</a:t>
            </a:r>
          </a:p>
          <a:p>
            <a:r>
              <a:rPr lang="en-US" dirty="0"/>
              <a:t>Used same memory for program and data</a:t>
            </a:r>
          </a:p>
          <a:p>
            <a:r>
              <a:rPr lang="en-US" dirty="0"/>
              <a:t>Was a testbed for Manchester Mark I and later Ferranti Mark I (first serially produced and commercially available stored-memory computer)</a:t>
            </a:r>
            <a:endParaRPr lang="ru-RU" dirty="0"/>
          </a:p>
        </p:txBody>
      </p:sp>
    </p:spTree>
    <p:extLst>
      <p:ext uri="{BB962C8B-B14F-4D97-AF65-F5344CB8AC3E}">
        <p14:creationId xmlns:p14="http://schemas.microsoft.com/office/powerpoint/2010/main" val="5171404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0089A09-2C5D-7640-B824-3D16CC9B027C}"/>
              </a:ext>
            </a:extLst>
          </p:cNvPr>
          <p:cNvSpPr>
            <a:spLocks noGrp="1"/>
          </p:cNvSpPr>
          <p:nvPr>
            <p:ph type="title"/>
          </p:nvPr>
        </p:nvSpPr>
        <p:spPr/>
        <p:txBody>
          <a:bodyPr/>
          <a:lstStyle/>
          <a:p>
            <a:r>
              <a:rPr lang="en-US" dirty="0"/>
              <a:t>What happened next</a:t>
            </a:r>
            <a:endParaRPr lang="ru-RU" dirty="0"/>
          </a:p>
        </p:txBody>
      </p:sp>
      <p:sp>
        <p:nvSpPr>
          <p:cNvPr id="3" name="Объект 2">
            <a:extLst>
              <a:ext uri="{FF2B5EF4-FFF2-40B4-BE49-F238E27FC236}">
                <a16:creationId xmlns:a16="http://schemas.microsoft.com/office/drawing/2014/main" id="{D9C11868-AE3C-5641-A44A-284460C94EDD}"/>
              </a:ext>
            </a:extLst>
          </p:cNvPr>
          <p:cNvSpPr>
            <a:spLocks noGrp="1"/>
          </p:cNvSpPr>
          <p:nvPr>
            <p:ph idx="1"/>
          </p:nvPr>
        </p:nvSpPr>
        <p:spPr/>
        <p:txBody>
          <a:bodyPr>
            <a:normAutofit lnSpcReduction="10000"/>
          </a:bodyPr>
          <a:lstStyle/>
          <a:p>
            <a:r>
              <a:rPr lang="en-US" dirty="0"/>
              <a:t>After stored program computer proved to be a good idea, people started to write program tools to simplify programming: assemblers and linkers</a:t>
            </a:r>
          </a:p>
          <a:p>
            <a:r>
              <a:rPr lang="en-US" dirty="0"/>
              <a:t>Then other people invented higher level languages, like </a:t>
            </a:r>
            <a:r>
              <a:rPr lang="en-US" dirty="0" err="1"/>
              <a:t>autocode</a:t>
            </a:r>
            <a:r>
              <a:rPr lang="en-US" dirty="0"/>
              <a:t>, Fortran and Lisp</a:t>
            </a:r>
          </a:p>
          <a:p>
            <a:r>
              <a:rPr lang="en-US" dirty="0"/>
              <a:t>And then it got out of control and now we have multilevel platforms writing programs for themselves</a:t>
            </a:r>
            <a:endParaRPr lang="ru-RU" dirty="0"/>
          </a:p>
        </p:txBody>
      </p:sp>
    </p:spTree>
    <p:extLst>
      <p:ext uri="{BB962C8B-B14F-4D97-AF65-F5344CB8AC3E}">
        <p14:creationId xmlns:p14="http://schemas.microsoft.com/office/powerpoint/2010/main" val="179392081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2094</TotalTime>
  <Words>3304</Words>
  <Application>Microsoft Office PowerPoint</Application>
  <PresentationFormat>Экран (4:3)</PresentationFormat>
  <Paragraphs>274</Paragraphs>
  <Slides>44</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44</vt:i4>
      </vt:variant>
    </vt:vector>
  </HeadingPairs>
  <TitlesOfParts>
    <vt:vector size="49" baseType="lpstr">
      <vt:lpstr>Arial</vt:lpstr>
      <vt:lpstr>Calibri</vt:lpstr>
      <vt:lpstr>Times New Roman</vt:lpstr>
      <vt:lpstr>YS Text</vt:lpstr>
      <vt:lpstr>Тема Office</vt:lpstr>
      <vt:lpstr>Lecture 1  Introduction</vt:lpstr>
      <vt:lpstr>What is a [computing] platform?</vt:lpstr>
      <vt:lpstr>So, what we mean by Platform</vt:lpstr>
      <vt:lpstr>Computer languages</vt:lpstr>
      <vt:lpstr>Понятия</vt:lpstr>
      <vt:lpstr>Определения</vt:lpstr>
      <vt:lpstr>Platforms hierarchy  система Таненбаума </vt:lpstr>
      <vt:lpstr>Э́ндрю Стюарт Таненба́ум</vt:lpstr>
      <vt:lpstr>It is even more complex</vt:lpstr>
      <vt:lpstr>JavaScript (JS) (Определения)</vt:lpstr>
      <vt:lpstr>Определения</vt:lpstr>
      <vt:lpstr>Why so many levels?</vt:lpstr>
      <vt:lpstr>What is virtual machine</vt:lpstr>
      <vt:lpstr>Why study low level platforms?</vt:lpstr>
      <vt:lpstr>Language translation</vt:lpstr>
      <vt:lpstr>Advantages of compilation</vt:lpstr>
      <vt:lpstr>Advantages of interpretation</vt:lpstr>
      <vt:lpstr>Software and hardware</vt:lpstr>
      <vt:lpstr>Reasons to choose </vt:lpstr>
      <vt:lpstr>Von Neumann computer</vt:lpstr>
      <vt:lpstr>More on von Neumann computers</vt:lpstr>
      <vt:lpstr>Why random access is important</vt:lpstr>
      <vt:lpstr>CPU commands</vt:lpstr>
      <vt:lpstr>Определения</vt:lpstr>
      <vt:lpstr>CPU families</vt:lpstr>
      <vt:lpstr>Why not study commercial ISA?</vt:lpstr>
      <vt:lpstr>Welcome CdM-8</vt:lpstr>
      <vt:lpstr>Why CdM-8 (an analogy)</vt:lpstr>
      <vt:lpstr>So let’s start from something simpler</vt:lpstr>
      <vt:lpstr>Why it is good idea</vt:lpstr>
      <vt:lpstr>Advantages of CdM-8</vt:lpstr>
      <vt:lpstr>Two types of von Neumann CPU</vt:lpstr>
      <vt:lpstr>Определение</vt:lpstr>
      <vt:lpstr>Course materials</vt:lpstr>
      <vt:lpstr>How we will work</vt:lpstr>
      <vt:lpstr>Course grading</vt:lpstr>
      <vt:lpstr>Course grading</vt:lpstr>
      <vt:lpstr>Some interesting facts</vt:lpstr>
      <vt:lpstr>Plugboards</vt:lpstr>
      <vt:lpstr>Plugboards and tabulators</vt:lpstr>
      <vt:lpstr>ENIAC</vt:lpstr>
      <vt:lpstr>ENIAC as von Neumann CPU</vt:lpstr>
      <vt:lpstr>First true von Neumann computer</vt:lpstr>
      <vt:lpstr>What happened next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fat</dc:creator>
  <cp:lastModifiedBy>nazarov_alex_itp</cp:lastModifiedBy>
  <cp:revision>61</cp:revision>
  <dcterms:created xsi:type="dcterms:W3CDTF">2018-09-03T08:22:38Z</dcterms:created>
  <dcterms:modified xsi:type="dcterms:W3CDTF">2025-09-01T08:46:46Z</dcterms:modified>
</cp:coreProperties>
</file>